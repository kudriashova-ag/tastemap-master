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ступ" id="{ce9ecaad-db93-2a8a-dda2-4a8e5db486bf}">
          <p14:sldIdLst>
            <p14:sldId id="256"/>
            <p14:sldId id="257"/>
            <p14:sldId id="258"/>
            <p14:sldId id="259"/>
          </p14:sldIdLst>
        </p14:section>
        <p14:section name="Проєктування" id="{81a9b26d-a854-cfeb-662f-4d7aae443032}">
          <p14:sldIdLst>
            <p14:sldId id="260"/>
            <p14:sldId id="261"/>
            <p14:sldId id="262"/>
            <p14:sldId id="263"/>
            <p14:sldId id="264"/>
            <p14:sldId id="265"/>
          </p14:sldIdLst>
        </p14:section>
        <p14:section name="Реалізація" id="{be09a3c4-bb8f-f990-4b77-80ed1c097f01}">
          <p14:sldIdLst>
            <p14:sldId id="266"/>
            <p14:sldId id="267"/>
            <p14:sldId id="268"/>
          </p14:sldIdLst>
        </p14:section>
        <p14:section name="Висновки" id="{d990aa05-1547-ae27-fafc-b429d6ba126e}">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Шановні члени комісії! Мене звати [ПІБ]. Тема моєї дипломної роботи — «Розробка платформи для організації заходів у ресторанному бізнесі». Проєкт має робочу назву TasteMap.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Ринок ресторанних послуг активно розвивається, але процес вибору закладу та бронювання досі незручний. Інформація розпорошена, бронювання здебільшого відбувається телефоном, а знайти заклад за конкретними умовами — дитяча зона, тераса, парковка — складно. Звідси потреба в єдиній платформі.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Метою роботи є створення веб-платформи, що поєднує відвідувачів і власників ресторанів. Для досягнення мети поставлено п'ять завдань: аналіз предметної області та аналогів, визначення вимог, проєктування архітектури та бази даних, реалізація серверної і клієнтської частин, тестування.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проаналізував(ла) найпоширеніші рішення: картографічні сервіси на кшталт Google Maps, платформи відгуків на кшталт TripAdvisor та власні сайти закладів. Кожне закриває лише частину потреб. TasteMap поєднує каталог, фільтри за зручностями, бронювання, відгуки та кабінет власника. [Перевірте оцінки «частково» перед захистом і за потреби уточніть їх.]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системі три ролі. Гість переглядає каталог і відгуки. Зареєстрований користувач бронює столики, скасовує бронювання та залишає відгуки. Власник закладу реєструється як партнер, створює картку ресторану та бачить бронювання свого закладу в особистому кабінеті. Ролі розмежовуються на рівні API атрибутами авторизації.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Серверна частина написана на C# з використанням ASP.NET Core 9 та Entity Framework Core. Як СУБД обрано PostgreSQL, що запускається в Docker-контейнері. Клієнтська частина — односторінковий застосунок на React 19 зі збіркою Vite та стилями Tailwind CSS. Для безпеки — JWT-токени та хешування паролів BCrypt, для пошти — бібліотека MailKit. API документується через Swagger.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Система побудована за принципами Clean Architecture і складається з чотирьох проєктів. Domain містить сутності предметної області. Application — бізнес-логіку, DTO та інтерфейси. Infrastructure реалізує ці інтерфейси: контекст бази даних EF Core і сервіс надсилання пошти. Проєкт TasteMap — це REST API з контролерами. Клієнт на React звертається до API через HTTP з JWT-токеном. Завдяки такому розділенню шари слабко зв'язані між собою.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Модель даних складається з п'яти сутностей. Користувач може бути власником кількох ресторанів, мати бронювання та відгуки. Ресторан має бронювання, відгуки та заходи. Бронювання може бути пов'язане з конкретним заходом — цей зв'язок необов'язковий. Схема створена підходом Code First і розвивалася через шість міграцій EF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складається з чотирьох контролерів і чотирнадцяти ендпоінтів. Auth відповідає за реєстрацію, вхід і підтвердження пошти. Restaurant — за каталог із фільтрацією та керування закладом. Booking — за бронювання, Review — за відгуки. Позначка «власник» означає, що доступ дозволено лише ролі RestaurantOwner, «вхід» — будь-якому авторизованому користувачу. Усі ендпоінти задокументовані у Swagger.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Під час реєстрації пароль хешується BCrypt. На пошту надсилається шестизначний код, який користувач підтверджує. Після входу сервер видає JWT-токен на дві години, підписаний HMAC-SHA256; у ньому зберігаються ідентифікатор, email і роль. Доступ до захищених ендпоінтів перевіряється атрибутами Authorize з ролями, а сервіс бронювань додатково перевіряє, що власник запитує дані саме свого закладу.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Головна сторінка показує каталог ресторанів із фільтрами. На сторінці закладу користувач бачить опис і зручності, може забронювати столик, вказавши дату, кількість гостей та побажання, а також залишити відгук з оцінкою.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профілі користувач бачить свої бронювання зі статусами та може скасувати бронювання, а також переглядає власні відгуки. Власник у кабінеті створює картку ресторану і бачить усі бронювання свого закладу.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Тестування проводилося вручну: API — через Swagger UI та HTTP-файл, інтерфейс — у браузері. Перевірялися як позитивні сценарії, так і негативні: повторна реєстрація, невірний пароль чи код, доступ без токена або з недостатньою роллю, невалідний рейтинг. Система коректно обробляє всі ці випадки.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Підсумовуючи: створено систему з чотирьох шарів, базу даних із п'яти сутностей, чотирнадцять REST-ендпоінтів, дев'ять сторінок клієнтського застосунку і три ролі користувачів. Реалізовано повний цикл роботи — від пошуку закладу до бронювання і відгуку.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Усі поставлені завдання виконано. Як напрями розвитку бачу: повноцінний модуль заходів — сутність Event уже закладена в базу даних; підтвердження бронювань власником; завантаження фотографій; карту закладів; refresh-токени, для яких поля вже передбачені в моделі; розгортання в хмарі та мобільний застосунок.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Дякую за увагу! Готовий(а) відповісти на ваші запитання.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M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749040"/>
            <a:ext cx="1069848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M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1"/>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TasteMap · дипломна робота</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ircle"/>
          <p:cNvSpPr/>
          <p:nvPr/>
        </p:nvSpPr>
        <p:spPr>
          <a:xfrm>
            <a:off x="731520" y="731520"/>
            <a:ext cx="822960" cy="822960"/>
          </a:xfrm>
          <a:prstGeom prst="ellipse">
            <a:avLst/>
          </a:prstGeom>
          <a:solidFill>
            <a:schemeClr val="accent1"/>
          </a:solidFill>
          <a:ln/>
        </p:spPr>
      </p:sp>
      <p:pic>
        <p:nvPicPr>
          <p:cNvPr id="3" name="logo glyph" descr="preencoded.png">    </p:cNvPr>
          <p:cNvPicPr>
            <a:picLocks noChangeAspect="1"/>
          </p:cNvPicPr>
          <p:nvPr/>
        </p:nvPicPr>
        <p:blipFill>
          <a:blip r:embed="rId1"/>
          <a:stretch>
            <a:fillRect/>
          </a:stretch>
        </p:blipFill>
        <p:spPr>
          <a:xfrm>
            <a:off x="937260" y="937260"/>
            <a:ext cx="411480" cy="411480"/>
          </a:xfrm>
          <a:prstGeom prst="rect">
            <a:avLst/>
          </a:prstGeom>
        </p:spPr>
      </p:pic>
      <p:sp>
        <p:nvSpPr>
          <p:cNvPr id="4" name="Text 1"/>
          <p:cNvSpPr txBox="1"/>
          <p:nvPr/>
        </p:nvSpPr>
        <p:spPr>
          <a:xfrm>
            <a:off x="1737360" y="868680"/>
            <a:ext cx="5486400" cy="54864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TasteMap</a:t>
            </a:r>
            <a:endParaRPr lang="en-US" sz="2800" dirty="0"/>
          </a:p>
        </p:txBody>
      </p:sp>
      <p:sp>
        <p:nvSpPr>
          <p:cNvPr id="5"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Розробка платформи для організації заходів у ресторанному бізнесі</a:t>
            </a:r>
            <a:endParaRPr lang="en-US" sz="4400" dirty="0"/>
          </a:p>
        </p:txBody>
      </p:sp>
      <p:sp>
        <p:nvSpPr>
          <p:cNvPr id="6"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r>
              <a:rPr lang="en-US" sz="2000" dirty="0">
                <a:solidFill>
                  <a:schemeClr val="accent6"/>
                </a:solidFill>
              </a:rPr>
              <a:t>Дипломна робота</a:t>
            </a:r>
            <a:endParaRPr lang="en-US" sz="2000" dirty="0"/>
          </a:p>
        </p:txBody>
      </p:sp>
      <p:sp>
        <p:nvSpPr>
          <p:cNvPr id="7" name="Text 4"/>
          <p:cNvSpPr txBox="1"/>
          <p:nvPr/>
        </p:nvSpPr>
        <p:spPr>
          <a:xfrm>
            <a:off x="731520" y="4892040"/>
            <a:ext cx="10698480" cy="128016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Виконав(ла): [ПІБ студента], група [___]</a:t>
            </a:r>
            <a:endParaRPr lang="en-US" sz="1600" dirty="0"/>
          </a:p>
          <a:p>
            <a:pPr indent="0" marL="0">
              <a:spcAft>
                <a:spcPts val="400"/>
              </a:spcAft>
              <a:buNone/>
            </a:pPr>
            <a:r>
              <a:rPr lang="en-US" sz="1600" dirty="0">
                <a:solidFill>
                  <a:schemeClr val="bg1"/>
                </a:solidFill>
              </a:rPr>
              <a:t>Науковий керівник: [ПІБ, посада]</a:t>
            </a:r>
            <a:endParaRPr lang="en-US" sz="1600" dirty="0"/>
          </a:p>
          <a:p>
            <a:pPr indent="0" marL="0">
              <a:spcAft>
                <a:spcPts val="400"/>
              </a:spcAft>
              <a:buNone/>
            </a:pPr>
            <a:r>
              <a:rPr lang="en-US" sz="1600" dirty="0">
                <a:solidFill>
                  <a:schemeClr val="bg1"/>
                </a:solidFill>
              </a:rPr>
              <a:t>[Кафедра, університет]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Актуальність теми</a:t>
            </a:r>
            <a:endParaRPr lang="en-US" sz="3400" dirty="0"/>
          </a:p>
        </p:txBody>
      </p:sp>
      <p:sp>
        <p:nvSpPr>
          <p:cNvPr id="3" name="problem card 1"/>
          <p:cNvSpPr/>
          <p:nvPr/>
        </p:nvSpPr>
        <p:spPr>
          <a:xfrm>
            <a:off x="548640" y="1417320"/>
            <a:ext cx="3474720" cy="3931920"/>
          </a:xfrm>
          <a:prstGeom prst="roundRect">
            <a:avLst>
              <a:gd name="adj" fmla="val 3158"/>
            </a:avLst>
          </a:prstGeom>
          <a:solidFill>
            <a:schemeClr val="bg2"/>
          </a:solidFill>
          <a:ln/>
        </p:spPr>
      </p:sp>
      <p:sp>
        <p:nvSpPr>
          <p:cNvPr id="4" name="problem icon 1 circle"/>
          <p:cNvSpPr/>
          <p:nvPr/>
        </p:nvSpPr>
        <p:spPr>
          <a:xfrm>
            <a:off x="914400" y="1737360"/>
            <a:ext cx="822960" cy="822960"/>
          </a:xfrm>
          <a:prstGeom prst="ellipse">
            <a:avLst/>
          </a:prstGeom>
          <a:solidFill>
            <a:schemeClr val="accent1"/>
          </a:solidFill>
          <a:ln/>
        </p:spPr>
      </p:sp>
      <p:pic>
        <p:nvPicPr>
          <p:cNvPr id="5" name="problem icon 1 glyph" descr="preencoded.png">    </p:cNvPr>
          <p:cNvPicPr>
            <a:picLocks noChangeAspect="1"/>
          </p:cNvPicPr>
          <p:nvPr/>
        </p:nvPicPr>
        <p:blipFill>
          <a:blip r:embed="rId1"/>
          <a:stretch>
            <a:fillRect/>
          </a:stretch>
        </p:blipFill>
        <p:spPr>
          <a:xfrm>
            <a:off x="1120140" y="1943100"/>
            <a:ext cx="411480" cy="411480"/>
          </a:xfrm>
          <a:prstGeom prst="rect">
            <a:avLst/>
          </a:prstGeom>
        </p:spPr>
      </p:pic>
      <p:sp>
        <p:nvSpPr>
          <p:cNvPr id="6" name="Text 3"/>
          <p:cNvSpPr txBox="1"/>
          <p:nvPr/>
        </p:nvSpPr>
        <p:spPr>
          <a:xfrm>
            <a:off x="914400" y="2788920"/>
            <a:ext cx="274320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Розпорошена інформація</a:t>
            </a:r>
            <a:endParaRPr lang="en-US" sz="2000" dirty="0"/>
          </a:p>
        </p:txBody>
      </p:sp>
      <p:sp>
        <p:nvSpPr>
          <p:cNvPr id="7" name="Text 4"/>
          <p:cNvSpPr txBox="1"/>
          <p:nvPr/>
        </p:nvSpPr>
        <p:spPr>
          <a:xfrm>
            <a:off x="914400" y="3566160"/>
            <a:ext cx="2743200" cy="1645920"/>
          </a:xfrm>
          <a:prstGeom prst="rect">
            <a:avLst/>
          </a:prstGeom>
          <a:noFill/>
          <a:ln/>
        </p:spPr>
        <p:txBody>
          <a:bodyPr wrap="square" lIns="0" tIns="0" rIns="0" bIns="0" rtlCol="0" anchor="t"/>
          <a:lstStyle/>
          <a:p>
            <a:pPr indent="0" marL="0">
              <a:buNone/>
            </a:pPr>
            <a:r>
              <a:rPr lang="en-US" sz="1500" dirty="0">
                <a:solidFill>
                  <a:schemeClr val="tx2"/>
                </a:solidFill>
              </a:rPr>
              <a:t>Дані про заклади розкидані між соцмережами, картами та сайтами — варіанти важко порівняти.</a:t>
            </a:r>
            <a:endParaRPr lang="en-US" sz="1500" dirty="0"/>
          </a:p>
        </p:txBody>
      </p:sp>
      <p:sp>
        <p:nvSpPr>
          <p:cNvPr id="8" name="problem card 2"/>
          <p:cNvSpPr/>
          <p:nvPr/>
        </p:nvSpPr>
        <p:spPr>
          <a:xfrm>
            <a:off x="4343400" y="1417320"/>
            <a:ext cx="3474720" cy="3931920"/>
          </a:xfrm>
          <a:prstGeom prst="roundRect">
            <a:avLst>
              <a:gd name="adj" fmla="val 3158"/>
            </a:avLst>
          </a:prstGeom>
          <a:solidFill>
            <a:schemeClr val="bg2"/>
          </a:solidFill>
          <a:ln/>
        </p:spPr>
      </p:sp>
      <p:sp>
        <p:nvSpPr>
          <p:cNvPr id="9" name="problem icon 2 circle"/>
          <p:cNvSpPr/>
          <p:nvPr/>
        </p:nvSpPr>
        <p:spPr>
          <a:xfrm>
            <a:off x="4709160" y="1737360"/>
            <a:ext cx="822960" cy="822960"/>
          </a:xfrm>
          <a:prstGeom prst="ellipse">
            <a:avLst/>
          </a:prstGeom>
          <a:solidFill>
            <a:schemeClr val="accent1"/>
          </a:solidFill>
          <a:ln/>
        </p:spPr>
      </p:sp>
      <p:pic>
        <p:nvPicPr>
          <p:cNvPr id="10" name="problem icon 2 glyph" descr="preencoded.png">    </p:cNvPr>
          <p:cNvPicPr>
            <a:picLocks noChangeAspect="1"/>
          </p:cNvPicPr>
          <p:nvPr/>
        </p:nvPicPr>
        <p:blipFill>
          <a:blip r:embed="rId2"/>
          <a:stretch>
            <a:fillRect/>
          </a:stretch>
        </p:blipFill>
        <p:spPr>
          <a:xfrm>
            <a:off x="4914900" y="1943100"/>
            <a:ext cx="411480" cy="411480"/>
          </a:xfrm>
          <a:prstGeom prst="rect">
            <a:avLst/>
          </a:prstGeom>
        </p:spPr>
      </p:pic>
      <p:sp>
        <p:nvSpPr>
          <p:cNvPr id="11" name="Text 7"/>
          <p:cNvSpPr txBox="1"/>
          <p:nvPr/>
        </p:nvSpPr>
        <p:spPr>
          <a:xfrm>
            <a:off x="4709160" y="2788920"/>
            <a:ext cx="274320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Бронювання телефоном</a:t>
            </a:r>
            <a:endParaRPr lang="en-US" sz="2000" dirty="0"/>
          </a:p>
        </p:txBody>
      </p:sp>
      <p:sp>
        <p:nvSpPr>
          <p:cNvPr id="12" name="Text 8"/>
          <p:cNvSpPr txBox="1"/>
          <p:nvPr/>
        </p:nvSpPr>
        <p:spPr>
          <a:xfrm>
            <a:off x="4709160" y="3566160"/>
            <a:ext cx="2743200" cy="1645920"/>
          </a:xfrm>
          <a:prstGeom prst="rect">
            <a:avLst/>
          </a:prstGeom>
          <a:noFill/>
          <a:ln/>
        </p:spPr>
        <p:txBody>
          <a:bodyPr wrap="square" lIns="0" tIns="0" rIns="0" bIns="0" rtlCol="0" anchor="t"/>
          <a:lstStyle/>
          <a:p>
            <a:pPr indent="0" marL="0">
              <a:buNone/>
            </a:pPr>
            <a:r>
              <a:rPr lang="en-US" sz="1500" dirty="0">
                <a:solidFill>
                  <a:schemeClr val="tx2"/>
                </a:solidFill>
              </a:rPr>
              <a:t>Більшість закладів приймає броні дзвінком: клієнт не бачить статусу, а ресторан не має єдиного списку заявок.</a:t>
            </a:r>
            <a:endParaRPr lang="en-US" sz="1500" dirty="0"/>
          </a:p>
        </p:txBody>
      </p:sp>
      <p:sp>
        <p:nvSpPr>
          <p:cNvPr id="13" name="problem card 3"/>
          <p:cNvSpPr/>
          <p:nvPr/>
        </p:nvSpPr>
        <p:spPr>
          <a:xfrm>
            <a:off x="8138160" y="1417320"/>
            <a:ext cx="3474720" cy="3931920"/>
          </a:xfrm>
          <a:prstGeom prst="roundRect">
            <a:avLst>
              <a:gd name="adj" fmla="val 3158"/>
            </a:avLst>
          </a:prstGeom>
          <a:solidFill>
            <a:schemeClr val="bg2"/>
          </a:solidFill>
          <a:ln/>
        </p:spPr>
      </p:sp>
      <p:sp>
        <p:nvSpPr>
          <p:cNvPr id="14" name="problem icon 3 circle"/>
          <p:cNvSpPr/>
          <p:nvPr/>
        </p:nvSpPr>
        <p:spPr>
          <a:xfrm>
            <a:off x="8503920" y="1737360"/>
            <a:ext cx="822960" cy="822960"/>
          </a:xfrm>
          <a:prstGeom prst="ellipse">
            <a:avLst/>
          </a:prstGeom>
          <a:solidFill>
            <a:schemeClr val="accent1"/>
          </a:solidFill>
          <a:ln/>
        </p:spPr>
      </p:sp>
      <p:pic>
        <p:nvPicPr>
          <p:cNvPr id="15" name="problem icon 3 glyph" descr="preencoded.png">    </p:cNvPr>
          <p:cNvPicPr>
            <a:picLocks noChangeAspect="1"/>
          </p:cNvPicPr>
          <p:nvPr/>
        </p:nvPicPr>
        <p:blipFill>
          <a:blip r:embed="rId3"/>
          <a:stretch>
            <a:fillRect/>
          </a:stretch>
        </p:blipFill>
        <p:spPr>
          <a:xfrm>
            <a:off x="8709660" y="1943100"/>
            <a:ext cx="411480" cy="411480"/>
          </a:xfrm>
          <a:prstGeom prst="rect">
            <a:avLst/>
          </a:prstGeom>
        </p:spPr>
      </p:pic>
      <p:sp>
        <p:nvSpPr>
          <p:cNvPr id="16" name="Text 11"/>
          <p:cNvSpPr txBox="1"/>
          <p:nvPr/>
        </p:nvSpPr>
        <p:spPr>
          <a:xfrm>
            <a:off x="8503920" y="2788920"/>
            <a:ext cx="274320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Немає пошуку за умовами</a:t>
            </a:r>
            <a:endParaRPr lang="en-US" sz="2000" dirty="0"/>
          </a:p>
        </p:txBody>
      </p:sp>
      <p:sp>
        <p:nvSpPr>
          <p:cNvPr id="17" name="Text 12"/>
          <p:cNvSpPr txBox="1"/>
          <p:nvPr/>
        </p:nvSpPr>
        <p:spPr>
          <a:xfrm>
            <a:off x="8503920" y="3566160"/>
            <a:ext cx="2743200" cy="1645920"/>
          </a:xfrm>
          <a:prstGeom prst="rect">
            <a:avLst/>
          </a:prstGeom>
          <a:noFill/>
          <a:ln/>
        </p:spPr>
        <p:txBody>
          <a:bodyPr wrap="square" lIns="0" tIns="0" rIns="0" bIns="0" rtlCol="0" anchor="t"/>
          <a:lstStyle/>
          <a:p>
            <a:pPr indent="0" marL="0">
              <a:buNone/>
            </a:pPr>
            <a:r>
              <a:rPr lang="en-US" sz="1500" dirty="0">
                <a:solidFill>
                  <a:schemeClr val="tx2"/>
                </a:solidFill>
              </a:rPr>
              <a:t>Складно знайти заклад із дитячою зоною, терасою, парковкою чи умовами для тварин.</a:t>
            </a:r>
            <a:endParaRPr lang="en-US" sz="1500" dirty="0"/>
          </a:p>
        </p:txBody>
      </p:sp>
      <p:sp>
        <p:nvSpPr>
          <p:cNvPr id="18" name="Text 13"/>
          <p:cNvSpPr txBox="1"/>
          <p:nvPr/>
        </p:nvSpPr>
        <p:spPr>
          <a:xfrm>
            <a:off x="548640" y="5577840"/>
            <a:ext cx="11064240" cy="457200"/>
          </a:xfrm>
          <a:prstGeom prst="rect">
            <a:avLst/>
          </a:prstGeom>
          <a:noFill/>
          <a:ln/>
        </p:spPr>
        <p:txBody>
          <a:bodyPr wrap="square" lIns="0" tIns="0" rIns="0" bIns="0" rtlCol="0" anchor="ctr"/>
          <a:lstStyle/>
          <a:p>
            <a:pPr indent="0" marL="0">
              <a:buNone/>
            </a:pPr>
            <a:r>
              <a:rPr lang="en-US" sz="1800" b="1" i="1" dirty="0">
                <a:solidFill>
                  <a:schemeClr val="accent1"/>
                </a:solidFill>
              </a:rPr>
              <a:t>Потрібна єдина платформа, що поєднує відвідувачів і власників закладів</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Мета та завдання роботи</a:t>
            </a:r>
            <a:endParaRPr lang="en-US" sz="3400" dirty="0"/>
          </a:p>
        </p:txBody>
      </p:sp>
      <p:sp>
        <p:nvSpPr>
          <p:cNvPr id="3" name="goal panel"/>
          <p:cNvSpPr/>
          <p:nvPr/>
        </p:nvSpPr>
        <p:spPr>
          <a:xfrm>
            <a:off x="548640" y="1417320"/>
            <a:ext cx="4297680" cy="4709160"/>
          </a:xfrm>
          <a:prstGeom prst="roundRect">
            <a:avLst>
              <a:gd name="adj" fmla="val 2553"/>
            </a:avLst>
          </a:prstGeom>
          <a:solidFill>
            <a:schemeClr val="tx1"/>
          </a:solidFill>
          <a:ln/>
        </p:spPr>
      </p:sp>
      <p:sp>
        <p:nvSpPr>
          <p:cNvPr id="4" name="Text 2"/>
          <p:cNvSpPr txBox="1"/>
          <p:nvPr/>
        </p:nvSpPr>
        <p:spPr>
          <a:xfrm>
            <a:off x="868680" y="1691640"/>
            <a:ext cx="36576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МЕТА</a:t>
            </a:r>
            <a:endParaRPr lang="en-US" sz="1400" dirty="0"/>
          </a:p>
        </p:txBody>
      </p:sp>
      <p:sp>
        <p:nvSpPr>
          <p:cNvPr id="5" name="Text 3"/>
          <p:cNvSpPr txBox="1"/>
          <p:nvPr/>
        </p:nvSpPr>
        <p:spPr>
          <a:xfrm>
            <a:off x="868680" y="2103120"/>
            <a:ext cx="3657600" cy="1554480"/>
          </a:xfrm>
          <a:prstGeom prst="rect">
            <a:avLst/>
          </a:prstGeom>
          <a:noFill/>
          <a:ln/>
        </p:spPr>
        <p:txBody>
          <a:bodyPr wrap="square" lIns="0" tIns="0" rIns="0" bIns="0" rtlCol="0" anchor="t"/>
          <a:lstStyle/>
          <a:p>
            <a:pPr indent="0" marL="0">
              <a:buNone/>
            </a:pPr>
            <a:r>
              <a:rPr lang="en-US" sz="1800" dirty="0">
                <a:solidFill>
                  <a:schemeClr val="bg1"/>
                </a:solidFill>
              </a:rPr>
              <a:t>Створити веб-платформу TasteMap, що поєднує відвідувачів і власників ресторанів: пошук закладів, онлайн-бронювання та відгуки.</a:t>
            </a:r>
            <a:endParaRPr lang="en-US" sz="1800" dirty="0"/>
          </a:p>
        </p:txBody>
      </p:sp>
      <p:sp>
        <p:nvSpPr>
          <p:cNvPr id="6" name="Text 4"/>
          <p:cNvSpPr txBox="1"/>
          <p:nvPr/>
        </p:nvSpPr>
        <p:spPr>
          <a:xfrm>
            <a:off x="868680" y="3794760"/>
            <a:ext cx="3657600" cy="2103120"/>
          </a:xfrm>
          <a:prstGeom prst="rect">
            <a:avLst/>
          </a:prstGeom>
          <a:noFill/>
          <a:ln/>
        </p:spPr>
        <p:txBody>
          <a:bodyPr wrap="square" lIns="0" tIns="0" rIns="0" bIns="0" rtlCol="0" anchor="t"/>
          <a:lstStyle/>
          <a:p>
            <a:pPr indent="0" marL="0">
              <a:spcAft>
                <a:spcPts val="800"/>
              </a:spcAft>
              <a:buNone/>
            </a:pPr>
            <a:r>
              <a:rPr lang="en-US" sz="1500" b="1" dirty="0">
                <a:solidFill>
                  <a:schemeClr val="accent2"/>
                </a:solidFill>
              </a:rPr>
              <a:t>Об'єкт: </a:t>
            </a:r>
            <a:pPr indent="0" marL="0">
              <a:spcAft>
                <a:spcPts val="800"/>
              </a:spcAft>
              <a:buNone/>
            </a:pPr>
            <a:r>
              <a:rPr lang="en-US" sz="1500" dirty="0">
                <a:solidFill>
                  <a:schemeClr val="bg1"/>
                </a:solidFill>
              </a:rPr>
              <a:t>процес бронювання та організації заходів у ресторанному бізнесі.</a:t>
            </a:r>
            <a:endParaRPr lang="en-US" sz="1500" dirty="0"/>
          </a:p>
          <a:p>
            <a:pPr indent="0" marL="0">
              <a:spcAft>
                <a:spcPts val="800"/>
              </a:spcAft>
              <a:buNone/>
            </a:pPr>
            <a:r>
              <a:rPr lang="en-US" sz="1500" b="1" dirty="0">
                <a:solidFill>
                  <a:schemeClr val="accent2"/>
                </a:solidFill>
              </a:rPr>
              <a:t>Предмет: </a:t>
            </a:r>
            <a:pPr indent="0" marL="0">
              <a:spcAft>
                <a:spcPts val="800"/>
              </a:spcAft>
              <a:buNone/>
            </a:pPr>
            <a:r>
              <a:rPr lang="en-US" sz="1500" dirty="0">
                <a:solidFill>
                  <a:schemeClr val="bg1"/>
                </a:solidFill>
              </a:rPr>
              <a:t>методи та засоби розробки веб-платформи на ASP.NET Core і React.</a:t>
            </a:r>
            <a:endParaRPr lang="en-US" sz="1500" dirty="0"/>
          </a:p>
        </p:txBody>
      </p:sp>
      <p:sp>
        <p:nvSpPr>
          <p:cNvPr id="7" name="task number 1"/>
          <p:cNvSpPr/>
          <p:nvPr/>
        </p:nvSpPr>
        <p:spPr>
          <a:xfrm>
            <a:off x="5257800" y="1527048"/>
            <a:ext cx="594360" cy="59436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6080760" y="1417320"/>
            <a:ext cx="5532120" cy="822960"/>
          </a:xfrm>
          <a:prstGeom prst="rect">
            <a:avLst/>
          </a:prstGeom>
          <a:noFill/>
          <a:ln/>
        </p:spPr>
        <p:txBody>
          <a:bodyPr wrap="square" lIns="0" tIns="0" rIns="0" bIns="0" rtlCol="0" anchor="ctr"/>
          <a:lstStyle/>
          <a:p>
            <a:pPr indent="0" marL="0">
              <a:buNone/>
            </a:pPr>
            <a:r>
              <a:rPr lang="en-US" sz="1700" dirty="0">
                <a:solidFill>
                  <a:schemeClr val="tx1"/>
                </a:solidFill>
              </a:rPr>
              <a:t>Проаналізувати предметну область та існуючі аналоги</a:t>
            </a:r>
            <a:endParaRPr lang="en-US" sz="1700" dirty="0"/>
          </a:p>
        </p:txBody>
      </p:sp>
      <p:sp>
        <p:nvSpPr>
          <p:cNvPr id="9" name="task number 2"/>
          <p:cNvSpPr/>
          <p:nvPr/>
        </p:nvSpPr>
        <p:spPr>
          <a:xfrm>
            <a:off x="5257800" y="2487168"/>
            <a:ext cx="594360" cy="59436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6080760" y="2377440"/>
            <a:ext cx="5532120" cy="822960"/>
          </a:xfrm>
          <a:prstGeom prst="rect">
            <a:avLst/>
          </a:prstGeom>
          <a:noFill/>
          <a:ln/>
        </p:spPr>
        <p:txBody>
          <a:bodyPr wrap="square" lIns="0" tIns="0" rIns="0" bIns="0" rtlCol="0" anchor="ctr"/>
          <a:lstStyle/>
          <a:p>
            <a:pPr indent="0" marL="0">
              <a:buNone/>
            </a:pPr>
            <a:r>
              <a:rPr lang="en-US" sz="1700" dirty="0">
                <a:solidFill>
                  <a:schemeClr val="tx1"/>
                </a:solidFill>
              </a:rPr>
              <a:t>Визначити ролі користувачів і функціональні вимоги</a:t>
            </a:r>
            <a:endParaRPr lang="en-US" sz="1700" dirty="0"/>
          </a:p>
        </p:txBody>
      </p:sp>
      <p:sp>
        <p:nvSpPr>
          <p:cNvPr id="11" name="task number 3"/>
          <p:cNvSpPr/>
          <p:nvPr/>
        </p:nvSpPr>
        <p:spPr>
          <a:xfrm>
            <a:off x="5257800" y="3447288"/>
            <a:ext cx="594360" cy="59436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10"/>
          <p:cNvSpPr txBox="1"/>
          <p:nvPr/>
        </p:nvSpPr>
        <p:spPr>
          <a:xfrm>
            <a:off x="6080760" y="3337560"/>
            <a:ext cx="5532120" cy="822960"/>
          </a:xfrm>
          <a:prstGeom prst="rect">
            <a:avLst/>
          </a:prstGeom>
          <a:noFill/>
          <a:ln/>
        </p:spPr>
        <p:txBody>
          <a:bodyPr wrap="square" lIns="0" tIns="0" rIns="0" bIns="0" rtlCol="0" anchor="ctr"/>
          <a:lstStyle/>
          <a:p>
            <a:pPr indent="0" marL="0">
              <a:buNone/>
            </a:pPr>
            <a:r>
              <a:rPr lang="en-US" sz="1700" dirty="0">
                <a:solidFill>
                  <a:schemeClr val="tx1"/>
                </a:solidFill>
              </a:rPr>
              <a:t>Спроєктувати архітектуру системи та модель даних</a:t>
            </a:r>
            <a:endParaRPr lang="en-US" sz="1700" dirty="0"/>
          </a:p>
        </p:txBody>
      </p:sp>
      <p:sp>
        <p:nvSpPr>
          <p:cNvPr id="13" name="task number 4"/>
          <p:cNvSpPr/>
          <p:nvPr/>
        </p:nvSpPr>
        <p:spPr>
          <a:xfrm>
            <a:off x="5257800" y="4407408"/>
            <a:ext cx="594360" cy="59436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 12"/>
          <p:cNvSpPr txBox="1"/>
          <p:nvPr/>
        </p:nvSpPr>
        <p:spPr>
          <a:xfrm>
            <a:off x="6080760" y="4297680"/>
            <a:ext cx="5532120" cy="822960"/>
          </a:xfrm>
          <a:prstGeom prst="rect">
            <a:avLst/>
          </a:prstGeom>
          <a:noFill/>
          <a:ln/>
        </p:spPr>
        <p:txBody>
          <a:bodyPr wrap="square" lIns="0" tIns="0" rIns="0" bIns="0" rtlCol="0" anchor="ctr"/>
          <a:lstStyle/>
          <a:p>
            <a:pPr indent="0" marL="0">
              <a:buNone/>
            </a:pPr>
            <a:r>
              <a:rPr lang="en-US" sz="1700" dirty="0">
                <a:solidFill>
                  <a:schemeClr val="tx1"/>
                </a:solidFill>
              </a:rPr>
              <a:t>Реалізувати серверну частину (REST API) та клієнтський інтерфейс</a:t>
            </a:r>
            <a:endParaRPr lang="en-US" sz="1700" dirty="0"/>
          </a:p>
        </p:txBody>
      </p:sp>
      <p:sp>
        <p:nvSpPr>
          <p:cNvPr id="15" name="task number 5"/>
          <p:cNvSpPr/>
          <p:nvPr/>
        </p:nvSpPr>
        <p:spPr>
          <a:xfrm>
            <a:off x="5257800" y="5367528"/>
            <a:ext cx="594360" cy="59436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6" name="Text 14"/>
          <p:cNvSpPr txBox="1"/>
          <p:nvPr/>
        </p:nvSpPr>
        <p:spPr>
          <a:xfrm>
            <a:off x="6080760" y="5257800"/>
            <a:ext cx="5532120" cy="822960"/>
          </a:xfrm>
          <a:prstGeom prst="rect">
            <a:avLst/>
          </a:prstGeom>
          <a:noFill/>
          <a:ln/>
        </p:spPr>
        <p:txBody>
          <a:bodyPr wrap="square" lIns="0" tIns="0" rIns="0" bIns="0" rtlCol="0" anchor="ctr"/>
          <a:lstStyle/>
          <a:p>
            <a:pPr indent="0" marL="0">
              <a:buNone/>
            </a:pPr>
            <a:r>
              <a:rPr lang="en-US" sz="1700" dirty="0">
                <a:solidFill>
                  <a:schemeClr val="tx1"/>
                </a:solidFill>
              </a:rPr>
              <a:t>Провести тестування та оцінити отримані результати</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Аналіз існуючих рішень</a:t>
            </a:r>
            <a:endParaRPr lang="en-US" sz="34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4114800"/>
                <a:gridCol w="1737360"/>
                <a:gridCol w="1737360"/>
                <a:gridCol w="1737360"/>
                <a:gridCol w="1737360"/>
              </a:tblGrid>
              <a:tr h="566928">
                <a:tc>
                  <a:txBody>
                    <a:bodyPr/>
                    <a:lstStyle/>
                    <a:p>
                      <a:pPr algn="l" indent="0" marL="0">
                        <a:buNone/>
                      </a:pPr>
                      <a:r>
                        <a:rPr lang="en-US" sz="1500" b="1" dirty="0">
                          <a:solidFill>
                            <a:schemeClr val="bg1"/>
                          </a:solidFill>
                        </a:rPr>
                        <a:t>Критерій</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Google Maps</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TripAdvisor</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Сайт закладу</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TasteMap</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accent1"/>
                    </a:solidFill>
                  </a:tcPr>
                </a:tc>
              </a:tr>
              <a:tr h="566928">
                <a:tc>
                  <a:txBody>
                    <a:bodyPr/>
                    <a:lstStyle/>
                    <a:p>
                      <a:pPr algn="l" indent="0" marL="0">
                        <a:buNone/>
                      </a:pPr>
                      <a:r>
                        <a:rPr lang="en-US" sz="1500" dirty="0">
                          <a:solidFill>
                            <a:schemeClr val="tx1"/>
                          </a:solidFill>
                        </a:rPr>
                        <a:t>Каталог закладів</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r h="566928">
                <a:tc>
                  <a:txBody>
                    <a:bodyPr/>
                    <a:lstStyle/>
                    <a:p>
                      <a:pPr algn="l" indent="0" marL="0">
                        <a:buNone/>
                      </a:pPr>
                      <a:r>
                        <a:rPr lang="en-US" sz="1500" dirty="0">
                          <a:solidFill>
                            <a:schemeClr val="tx1"/>
                          </a:solidFill>
                        </a:rPr>
                        <a:t>Фільтри за зручностями (діти, тварини, тераса)</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частково</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частково</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r h="566928">
                <a:tc>
                  <a:txBody>
                    <a:bodyPr/>
                    <a:lstStyle/>
                    <a:p>
                      <a:pPr algn="l" indent="0" marL="0">
                        <a:buNone/>
                      </a:pPr>
                      <a:r>
                        <a:rPr lang="en-US" sz="1500" dirty="0">
                          <a:solidFill>
                            <a:schemeClr val="tx1"/>
                          </a:solidFill>
                        </a:rPr>
                        <a:t>Онлайн-бронювання столика</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частково</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частково</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частково</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r h="566928">
                <a:tc>
                  <a:txBody>
                    <a:bodyPr/>
                    <a:lstStyle/>
                    <a:p>
                      <a:pPr algn="l" indent="0" marL="0">
                        <a:buNone/>
                      </a:pPr>
                      <a:r>
                        <a:rPr lang="en-US" sz="1500" dirty="0">
                          <a:solidFill>
                            <a:schemeClr val="tx1"/>
                          </a:solidFill>
                        </a:rPr>
                        <a:t>Відгуки та рейтинг</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r h="566928">
                <a:tc>
                  <a:txBody>
                    <a:bodyPr/>
                    <a:lstStyle/>
                    <a:p>
                      <a:pPr algn="l" indent="0" marL="0">
                        <a:buNone/>
                      </a:pPr>
                      <a:r>
                        <a:rPr lang="en-US" sz="1500" dirty="0">
                          <a:solidFill>
                            <a:schemeClr val="tx1"/>
                          </a:solidFill>
                        </a:rPr>
                        <a:t>Кабінет власника з бронюваннями</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частково</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частково</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109728" marR="109728"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bl>
          </a:graphicData>
        </a:graphic>
      </p:graphicFrame>
      <p:sp>
        <p:nvSpPr>
          <p:cNvPr id="4" name="insight circle"/>
          <p:cNvSpPr/>
          <p:nvPr/>
        </p:nvSpPr>
        <p:spPr>
          <a:xfrm>
            <a:off x="548640" y="5166360"/>
            <a:ext cx="640080" cy="640080"/>
          </a:xfrm>
          <a:prstGeom prst="ellipse">
            <a:avLst/>
          </a:prstGeom>
          <a:solidFill>
            <a:schemeClr val="accent2"/>
          </a:solidFill>
          <a:ln/>
        </p:spPr>
      </p:sp>
      <p:pic>
        <p:nvPicPr>
          <p:cNvPr id="5" name="insight glyph" descr="preencoded.png">    </p:cNvPr>
          <p:cNvPicPr>
            <a:picLocks noChangeAspect="1"/>
          </p:cNvPicPr>
          <p:nvPr/>
        </p:nvPicPr>
        <p:blipFill>
          <a:blip r:embed="rId1"/>
          <a:stretch>
            <a:fillRect/>
          </a:stretch>
        </p:blipFill>
        <p:spPr>
          <a:xfrm>
            <a:off x="708660" y="5326380"/>
            <a:ext cx="320040" cy="320040"/>
          </a:xfrm>
          <a:prstGeom prst="rect">
            <a:avLst/>
          </a:prstGeom>
        </p:spPr>
      </p:pic>
      <p:sp>
        <p:nvSpPr>
          <p:cNvPr id="6" name="Text 2"/>
          <p:cNvSpPr txBox="1"/>
          <p:nvPr/>
        </p:nvSpPr>
        <p:spPr>
          <a:xfrm>
            <a:off x="1371600" y="5120640"/>
            <a:ext cx="10241280" cy="731520"/>
          </a:xfrm>
          <a:prstGeom prst="rect">
            <a:avLst/>
          </a:prstGeom>
          <a:noFill/>
          <a:ln/>
        </p:spPr>
        <p:txBody>
          <a:bodyPr wrap="square" lIns="0" tIns="0" rIns="0" bIns="0" rtlCol="0" anchor="ctr"/>
          <a:lstStyle/>
          <a:p>
            <a:pPr indent="0" marL="0">
              <a:buNone/>
            </a:pPr>
            <a:r>
              <a:rPr lang="en-US" sz="1700" dirty="0">
                <a:solidFill>
                  <a:schemeClr val="tx1"/>
                </a:solidFill>
              </a:rPr>
              <a:t>TasteMap об'єднує всі функції в одному сервісі та орієнтований саме на ресторани і їхніх власників</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Ролі користувачів і функції</a:t>
            </a:r>
            <a:endParaRPr lang="en-US" sz="3400" dirty="0"/>
          </a:p>
        </p:txBody>
      </p:sp>
      <p:sp>
        <p:nvSpPr>
          <p:cNvPr id="3" name="role card 1"/>
          <p:cNvSpPr/>
          <p:nvPr/>
        </p:nvSpPr>
        <p:spPr>
          <a:xfrm>
            <a:off x="548640" y="1417320"/>
            <a:ext cx="3474720" cy="3429000"/>
          </a:xfrm>
          <a:prstGeom prst="roundRect">
            <a:avLst>
              <a:gd name="adj" fmla="val 3200"/>
            </a:avLst>
          </a:prstGeom>
          <a:solidFill>
            <a:schemeClr val="bg2"/>
          </a:solidFill>
          <a:ln/>
        </p:spPr>
      </p:sp>
      <p:sp>
        <p:nvSpPr>
          <p:cNvPr id="4" name="role icon 1 circle"/>
          <p:cNvSpPr/>
          <p:nvPr/>
        </p:nvSpPr>
        <p:spPr>
          <a:xfrm>
            <a:off x="868680" y="1691640"/>
            <a:ext cx="731520" cy="731520"/>
          </a:xfrm>
          <a:prstGeom prst="ellipse">
            <a:avLst/>
          </a:prstGeom>
          <a:solidFill>
            <a:schemeClr val="accent1"/>
          </a:solidFill>
          <a:ln/>
        </p:spPr>
      </p:sp>
      <p:pic>
        <p:nvPicPr>
          <p:cNvPr id="5" name="role icon 1 glyph" descr="preencoded.png">    </p:cNvPr>
          <p:cNvPicPr>
            <a:picLocks noChangeAspect="1"/>
          </p:cNvPicPr>
          <p:nvPr/>
        </p:nvPicPr>
        <p:blipFill>
          <a:blip r:embed="rId1"/>
          <a:stretch>
            <a:fillRect/>
          </a:stretch>
        </p:blipFill>
        <p:spPr>
          <a:xfrm>
            <a:off x="1051560" y="1874520"/>
            <a:ext cx="365760" cy="365760"/>
          </a:xfrm>
          <a:prstGeom prst="rect">
            <a:avLst/>
          </a:prstGeom>
        </p:spPr>
      </p:pic>
      <p:sp>
        <p:nvSpPr>
          <p:cNvPr id="6" name="Text 3"/>
          <p:cNvSpPr txBox="1"/>
          <p:nvPr/>
        </p:nvSpPr>
        <p:spPr>
          <a:xfrm>
            <a:off x="1737360" y="1691640"/>
            <a:ext cx="21488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Гість</a:t>
            </a:r>
            <a:endParaRPr lang="en-US" sz="2000" dirty="0"/>
          </a:p>
        </p:txBody>
      </p:sp>
      <p:sp>
        <p:nvSpPr>
          <p:cNvPr id="7" name="Text 4"/>
          <p:cNvSpPr txBox="1"/>
          <p:nvPr/>
        </p:nvSpPr>
        <p:spPr>
          <a:xfrm>
            <a:off x="1737360" y="2103120"/>
            <a:ext cx="2148840"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без входу</a:t>
            </a:r>
            <a:endParaRPr lang="en-US" sz="1200" dirty="0"/>
          </a:p>
        </p:txBody>
      </p:sp>
      <p:sp>
        <p:nvSpPr>
          <p:cNvPr id="8" name="Text 5"/>
          <p:cNvSpPr txBox="1"/>
          <p:nvPr/>
        </p:nvSpPr>
        <p:spPr>
          <a:xfrm>
            <a:off x="868680" y="2743200"/>
            <a:ext cx="2880360" cy="2011680"/>
          </a:xfrm>
          <a:prstGeom prst="rect">
            <a:avLst/>
          </a:prstGeom>
          <a:noFill/>
          <a:ln/>
        </p:spPr>
        <p:txBody>
          <a:bodyPr wrap="square" lIns="0" tIns="0" rIns="0" bIns="0" rtlCol="0" anchor="t"/>
          <a:lstStyle/>
          <a:p>
            <a:pPr marL="190500" indent="-190500">
              <a:spcAft>
                <a:spcPts val="800"/>
              </a:spcAft>
              <a:buSzPct val="100000"/>
              <a:buChar char="•"/>
            </a:pPr>
            <a:r>
              <a:rPr lang="en-US" sz="1500" dirty="0">
                <a:solidFill>
                  <a:schemeClr val="tx1"/>
                </a:solidFill>
              </a:rPr>
              <a:t>Перегляд каталогу ресторанів</a:t>
            </a:r>
            <a:endParaRPr lang="en-US" sz="1500" dirty="0"/>
          </a:p>
          <a:p>
            <a:pPr marL="190500" indent="-190500">
              <a:spcAft>
                <a:spcPts val="800"/>
              </a:spcAft>
              <a:buSzPct val="100000"/>
              <a:buChar char="•"/>
            </a:pPr>
            <a:r>
              <a:rPr lang="en-US" sz="1500" dirty="0">
                <a:solidFill>
                  <a:schemeClr val="tx1"/>
                </a:solidFill>
              </a:rPr>
              <a:t>Фільтри: місто, тип кухні, дитяча зона</a:t>
            </a:r>
            <a:endParaRPr lang="en-US" sz="1500" dirty="0"/>
          </a:p>
          <a:p>
            <a:pPr marL="190500" indent="-190500">
              <a:spcAft>
                <a:spcPts val="800"/>
              </a:spcAft>
              <a:buSzPct val="100000"/>
              <a:buChar char="•"/>
            </a:pPr>
            <a:r>
              <a:rPr lang="en-US" sz="1500" dirty="0">
                <a:solidFill>
                  <a:schemeClr val="tx1"/>
                </a:solidFill>
              </a:rPr>
              <a:t>Сторінка закладу та відгуки</a:t>
            </a:r>
            <a:endParaRPr lang="en-US" sz="1500" dirty="0"/>
          </a:p>
        </p:txBody>
      </p:sp>
      <p:sp>
        <p:nvSpPr>
          <p:cNvPr id="9" name="role card 2"/>
          <p:cNvSpPr/>
          <p:nvPr/>
        </p:nvSpPr>
        <p:spPr>
          <a:xfrm>
            <a:off x="4343400" y="1417320"/>
            <a:ext cx="3474720" cy="3429000"/>
          </a:xfrm>
          <a:prstGeom prst="roundRect">
            <a:avLst>
              <a:gd name="adj" fmla="val 3200"/>
            </a:avLst>
          </a:prstGeom>
          <a:solidFill>
            <a:schemeClr val="bg2"/>
          </a:solidFill>
          <a:ln/>
        </p:spPr>
      </p:sp>
      <p:sp>
        <p:nvSpPr>
          <p:cNvPr id="10" name="role icon 2 circle"/>
          <p:cNvSpPr/>
          <p:nvPr/>
        </p:nvSpPr>
        <p:spPr>
          <a:xfrm>
            <a:off x="4663440" y="1691640"/>
            <a:ext cx="731520" cy="731520"/>
          </a:xfrm>
          <a:prstGeom prst="ellipse">
            <a:avLst/>
          </a:prstGeom>
          <a:solidFill>
            <a:schemeClr val="accent1"/>
          </a:solidFill>
          <a:ln/>
        </p:spPr>
      </p:sp>
      <p:pic>
        <p:nvPicPr>
          <p:cNvPr id="11" name="role icon 2 glyph" descr="preencoded.png">    </p:cNvPr>
          <p:cNvPicPr>
            <a:picLocks noChangeAspect="1"/>
          </p:cNvPicPr>
          <p:nvPr/>
        </p:nvPicPr>
        <p:blipFill>
          <a:blip r:embed="rId2"/>
          <a:stretch>
            <a:fillRect/>
          </a:stretch>
        </p:blipFill>
        <p:spPr>
          <a:xfrm>
            <a:off x="4846320" y="1874520"/>
            <a:ext cx="365760" cy="365760"/>
          </a:xfrm>
          <a:prstGeom prst="rect">
            <a:avLst/>
          </a:prstGeom>
        </p:spPr>
      </p:pic>
      <p:sp>
        <p:nvSpPr>
          <p:cNvPr id="12" name="Text 8"/>
          <p:cNvSpPr txBox="1"/>
          <p:nvPr/>
        </p:nvSpPr>
        <p:spPr>
          <a:xfrm>
            <a:off x="5532120" y="1691640"/>
            <a:ext cx="21488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Користувач</a:t>
            </a:r>
            <a:endParaRPr lang="en-US" sz="2000" dirty="0"/>
          </a:p>
        </p:txBody>
      </p:sp>
      <p:sp>
        <p:nvSpPr>
          <p:cNvPr id="13" name="Text 9"/>
          <p:cNvSpPr txBox="1"/>
          <p:nvPr/>
        </p:nvSpPr>
        <p:spPr>
          <a:xfrm>
            <a:off x="5532120" y="2103120"/>
            <a:ext cx="2148840"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роль User</a:t>
            </a:r>
            <a:endParaRPr lang="en-US" sz="1200" dirty="0"/>
          </a:p>
        </p:txBody>
      </p:sp>
      <p:sp>
        <p:nvSpPr>
          <p:cNvPr id="14" name="Text 10"/>
          <p:cNvSpPr txBox="1"/>
          <p:nvPr/>
        </p:nvSpPr>
        <p:spPr>
          <a:xfrm>
            <a:off x="4663440" y="2743200"/>
            <a:ext cx="2880360" cy="2011680"/>
          </a:xfrm>
          <a:prstGeom prst="rect">
            <a:avLst/>
          </a:prstGeom>
          <a:noFill/>
          <a:ln/>
        </p:spPr>
        <p:txBody>
          <a:bodyPr wrap="square" lIns="0" tIns="0" rIns="0" bIns="0" rtlCol="0" anchor="t"/>
          <a:lstStyle/>
          <a:p>
            <a:pPr marL="190500" indent="-190500">
              <a:spcAft>
                <a:spcPts val="800"/>
              </a:spcAft>
              <a:buSzPct val="100000"/>
              <a:buChar char="•"/>
            </a:pPr>
            <a:r>
              <a:rPr lang="en-US" sz="1500" dirty="0">
                <a:solidFill>
                  <a:schemeClr val="tx1"/>
                </a:solidFill>
              </a:rPr>
              <a:t>Реєстрація з підтвердженням email</a:t>
            </a:r>
            <a:endParaRPr lang="en-US" sz="1500" dirty="0"/>
          </a:p>
          <a:p>
            <a:pPr marL="190500" indent="-190500">
              <a:spcAft>
                <a:spcPts val="800"/>
              </a:spcAft>
              <a:buSzPct val="100000"/>
              <a:buChar char="•"/>
            </a:pPr>
            <a:r>
              <a:rPr lang="en-US" sz="1500" dirty="0">
                <a:solidFill>
                  <a:schemeClr val="tx1"/>
                </a:solidFill>
              </a:rPr>
              <a:t>Бронювання та скасування броні</a:t>
            </a:r>
            <a:endParaRPr lang="en-US" sz="1500" dirty="0"/>
          </a:p>
          <a:p>
            <a:pPr marL="190500" indent="-190500">
              <a:spcAft>
                <a:spcPts val="800"/>
              </a:spcAft>
              <a:buSzPct val="100000"/>
              <a:buChar char="•"/>
            </a:pPr>
            <a:r>
              <a:rPr lang="en-US" sz="1500" dirty="0">
                <a:solidFill>
                  <a:schemeClr val="tx1"/>
                </a:solidFill>
              </a:rPr>
              <a:t>Відгуки з оцінкою від 1 до 5</a:t>
            </a:r>
            <a:endParaRPr lang="en-US" sz="1500" dirty="0"/>
          </a:p>
          <a:p>
            <a:pPr marL="190500" indent="-190500">
              <a:spcAft>
                <a:spcPts val="800"/>
              </a:spcAft>
              <a:buSzPct val="100000"/>
              <a:buChar char="•"/>
            </a:pPr>
            <a:r>
              <a:rPr lang="en-US" sz="1500" dirty="0">
                <a:solidFill>
                  <a:schemeClr val="tx1"/>
                </a:solidFill>
              </a:rPr>
              <a:t>Особистий профіль</a:t>
            </a:r>
            <a:endParaRPr lang="en-US" sz="1500" dirty="0"/>
          </a:p>
        </p:txBody>
      </p:sp>
      <p:sp>
        <p:nvSpPr>
          <p:cNvPr id="15" name="role card 3"/>
          <p:cNvSpPr/>
          <p:nvPr/>
        </p:nvSpPr>
        <p:spPr>
          <a:xfrm>
            <a:off x="8138160" y="1417320"/>
            <a:ext cx="3474720" cy="3429000"/>
          </a:xfrm>
          <a:prstGeom prst="roundRect">
            <a:avLst>
              <a:gd name="adj" fmla="val 3200"/>
            </a:avLst>
          </a:prstGeom>
          <a:solidFill>
            <a:schemeClr val="bg2"/>
          </a:solidFill>
          <a:ln/>
        </p:spPr>
      </p:sp>
      <p:sp>
        <p:nvSpPr>
          <p:cNvPr id="16" name="role icon 3 circle"/>
          <p:cNvSpPr/>
          <p:nvPr/>
        </p:nvSpPr>
        <p:spPr>
          <a:xfrm>
            <a:off x="8458200" y="1691640"/>
            <a:ext cx="731520" cy="731520"/>
          </a:xfrm>
          <a:prstGeom prst="ellipse">
            <a:avLst/>
          </a:prstGeom>
          <a:solidFill>
            <a:schemeClr val="accent3"/>
          </a:solidFill>
          <a:ln/>
        </p:spPr>
      </p:sp>
      <p:pic>
        <p:nvPicPr>
          <p:cNvPr id="17" name="role icon 3 glyph" descr="preencoded.png">    </p:cNvPr>
          <p:cNvPicPr>
            <a:picLocks noChangeAspect="1"/>
          </p:cNvPicPr>
          <p:nvPr/>
        </p:nvPicPr>
        <p:blipFill>
          <a:blip r:embed="rId3"/>
          <a:stretch>
            <a:fillRect/>
          </a:stretch>
        </p:blipFill>
        <p:spPr>
          <a:xfrm>
            <a:off x="8641080" y="1874520"/>
            <a:ext cx="365760" cy="365760"/>
          </a:xfrm>
          <a:prstGeom prst="rect">
            <a:avLst/>
          </a:prstGeom>
        </p:spPr>
      </p:pic>
      <p:sp>
        <p:nvSpPr>
          <p:cNvPr id="18" name="Text 13"/>
          <p:cNvSpPr txBox="1"/>
          <p:nvPr/>
        </p:nvSpPr>
        <p:spPr>
          <a:xfrm>
            <a:off x="9326880" y="1691640"/>
            <a:ext cx="21488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Власник закладу</a:t>
            </a:r>
            <a:endParaRPr lang="en-US" sz="2000" dirty="0"/>
          </a:p>
        </p:txBody>
      </p:sp>
      <p:sp>
        <p:nvSpPr>
          <p:cNvPr id="19" name="Text 14"/>
          <p:cNvSpPr txBox="1"/>
          <p:nvPr/>
        </p:nvSpPr>
        <p:spPr>
          <a:xfrm>
            <a:off x="9326880" y="2103120"/>
            <a:ext cx="2148840"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роль RestaurantOwner</a:t>
            </a:r>
            <a:endParaRPr lang="en-US" sz="1200" dirty="0"/>
          </a:p>
        </p:txBody>
      </p:sp>
      <p:sp>
        <p:nvSpPr>
          <p:cNvPr id="20" name="Text 15"/>
          <p:cNvSpPr txBox="1"/>
          <p:nvPr/>
        </p:nvSpPr>
        <p:spPr>
          <a:xfrm>
            <a:off x="8458200" y="2743200"/>
            <a:ext cx="2880360" cy="2011680"/>
          </a:xfrm>
          <a:prstGeom prst="rect">
            <a:avLst/>
          </a:prstGeom>
          <a:noFill/>
          <a:ln/>
        </p:spPr>
        <p:txBody>
          <a:bodyPr wrap="square" lIns="0" tIns="0" rIns="0" bIns="0" rtlCol="0" anchor="t"/>
          <a:lstStyle/>
          <a:p>
            <a:pPr marL="190500" indent="-190500">
              <a:spcAft>
                <a:spcPts val="800"/>
              </a:spcAft>
              <a:buSzPct val="100000"/>
              <a:buChar char="•"/>
            </a:pPr>
            <a:r>
              <a:rPr lang="en-US" sz="1500" dirty="0">
                <a:solidFill>
                  <a:schemeClr val="tx1"/>
                </a:solidFill>
              </a:rPr>
              <a:t>Реєстрація як партнер</a:t>
            </a:r>
            <a:endParaRPr lang="en-US" sz="1500" dirty="0"/>
          </a:p>
          <a:p>
            <a:pPr marL="190500" indent="-190500">
              <a:spcAft>
                <a:spcPts val="800"/>
              </a:spcAft>
              <a:buSzPct val="100000"/>
              <a:buChar char="•"/>
            </a:pPr>
            <a:r>
              <a:rPr lang="en-US" sz="1500" dirty="0">
                <a:solidFill>
                  <a:schemeClr val="tx1"/>
                </a:solidFill>
              </a:rPr>
              <a:t>Створення картки ресторану</a:t>
            </a:r>
            <a:endParaRPr lang="en-US" sz="1500" dirty="0"/>
          </a:p>
          <a:p>
            <a:pPr marL="190500" indent="-190500">
              <a:spcAft>
                <a:spcPts val="800"/>
              </a:spcAft>
              <a:buSzPct val="100000"/>
              <a:buChar char="•"/>
            </a:pPr>
            <a:r>
              <a:rPr lang="en-US" sz="1500" dirty="0">
                <a:solidFill>
                  <a:schemeClr val="tx1"/>
                </a:solidFill>
              </a:rPr>
              <a:t>Кабінет із бронюваннями свого закладу</a:t>
            </a:r>
            <a:endParaRPr lang="en-US" sz="1500" dirty="0"/>
          </a:p>
        </p:txBody>
      </p:sp>
      <p:sp>
        <p:nvSpPr>
          <p:cNvPr id="21" name="access card"/>
          <p:cNvSpPr/>
          <p:nvPr/>
        </p:nvSpPr>
        <p:spPr>
          <a:xfrm>
            <a:off x="548640" y="5166360"/>
            <a:ext cx="11064240" cy="914400"/>
          </a:xfrm>
          <a:prstGeom prst="roundRect">
            <a:avLst>
              <a:gd name="adj" fmla="val 12000"/>
            </a:avLst>
          </a:prstGeom>
          <a:solidFill>
            <a:schemeClr val="tx1"/>
          </a:solidFill>
          <a:ln/>
        </p:spPr>
      </p:sp>
      <p:sp>
        <p:nvSpPr>
          <p:cNvPr id="22" name="access icon circle"/>
          <p:cNvSpPr/>
          <p:nvPr/>
        </p:nvSpPr>
        <p:spPr>
          <a:xfrm>
            <a:off x="822960" y="5303520"/>
            <a:ext cx="640080" cy="640080"/>
          </a:xfrm>
          <a:prstGeom prst="ellipse">
            <a:avLst/>
          </a:prstGeom>
          <a:solidFill>
            <a:schemeClr val="accent1"/>
          </a:solidFill>
          <a:ln/>
        </p:spPr>
      </p:sp>
      <p:pic>
        <p:nvPicPr>
          <p:cNvPr id="23" name="access icon glyph" descr="preencoded.png">    </p:cNvPr>
          <p:cNvPicPr>
            <a:picLocks noChangeAspect="1"/>
          </p:cNvPicPr>
          <p:nvPr/>
        </p:nvPicPr>
        <p:blipFill>
          <a:blip r:embed="rId4"/>
          <a:stretch>
            <a:fillRect/>
          </a:stretch>
        </p:blipFill>
        <p:spPr>
          <a:xfrm>
            <a:off x="982980" y="5463540"/>
            <a:ext cx="320040" cy="320040"/>
          </a:xfrm>
          <a:prstGeom prst="rect">
            <a:avLst/>
          </a:prstGeom>
        </p:spPr>
      </p:pic>
      <p:sp>
        <p:nvSpPr>
          <p:cNvPr id="24" name="Text 18"/>
          <p:cNvSpPr txBox="1"/>
          <p:nvPr/>
        </p:nvSpPr>
        <p:spPr>
          <a:xfrm>
            <a:off x="1691640" y="5166360"/>
            <a:ext cx="9692640" cy="914400"/>
          </a:xfrm>
          <a:prstGeom prst="rect">
            <a:avLst/>
          </a:prstGeom>
          <a:noFill/>
          <a:ln/>
        </p:spPr>
        <p:txBody>
          <a:bodyPr wrap="square" lIns="0" tIns="0" rIns="0" bIns="0" rtlCol="0" anchor="ctr"/>
          <a:lstStyle/>
          <a:p>
            <a:pPr indent="0" marL="0">
              <a:buNone/>
            </a:pPr>
            <a:r>
              <a:rPr lang="en-US" sz="1600" b="1" dirty="0">
                <a:solidFill>
                  <a:schemeClr val="bg1"/>
                </a:solidFill>
              </a:rPr>
              <a:t>Доступ розмежовано на рівні API: </a:t>
            </a:r>
            <a:pPr indent="0" marL="0">
              <a:buNone/>
            </a:pPr>
            <a:r>
              <a:rPr lang="en-US" sz="1600" dirty="0">
                <a:solidFill>
                  <a:schemeClr val="bg1"/>
                </a:solidFill>
              </a:rPr>
              <a:t>[Authorize] та [Authorize(Roles = "RestaurantOwner")] на контролерах</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Технологічний стек</a:t>
            </a:r>
            <a:endParaRPr lang="en-US" sz="3400" dirty="0"/>
          </a:p>
        </p:txBody>
      </p:sp>
      <p:sp>
        <p:nvSpPr>
          <p:cNvPr id="3" name="stack tile 1"/>
          <p:cNvSpPr/>
          <p:nvPr/>
        </p:nvSpPr>
        <p:spPr>
          <a:xfrm>
            <a:off x="548640" y="1417320"/>
            <a:ext cx="3474720" cy="2240280"/>
          </a:xfrm>
          <a:prstGeom prst="roundRect">
            <a:avLst>
              <a:gd name="adj" fmla="val 4898"/>
            </a:avLst>
          </a:prstGeom>
          <a:solidFill>
            <a:schemeClr val="bg2"/>
          </a:solidFill>
          <a:ln/>
        </p:spPr>
      </p:sp>
      <p:sp>
        <p:nvSpPr>
          <p:cNvPr id="4" name="stack icon 1 circle"/>
          <p:cNvSpPr/>
          <p:nvPr/>
        </p:nvSpPr>
        <p:spPr>
          <a:xfrm>
            <a:off x="822960" y="1691640"/>
            <a:ext cx="685800" cy="685800"/>
          </a:xfrm>
          <a:prstGeom prst="ellipse">
            <a:avLst/>
          </a:prstGeom>
          <a:solidFill>
            <a:schemeClr val="accent1"/>
          </a:solidFill>
          <a:ln/>
        </p:spPr>
      </p:sp>
      <p:pic>
        <p:nvPicPr>
          <p:cNvPr id="5" name="stack icon 1 glyph" descr="preencoded.png">    </p:cNvPr>
          <p:cNvPicPr>
            <a:picLocks noChangeAspect="1"/>
          </p:cNvPicPr>
          <p:nvPr/>
        </p:nvPicPr>
        <p:blipFill>
          <a:blip r:embed="rId1"/>
          <a:stretch>
            <a:fillRect/>
          </a:stretch>
        </p:blipFill>
        <p:spPr>
          <a:xfrm>
            <a:off x="994410" y="1863090"/>
            <a:ext cx="342900" cy="342900"/>
          </a:xfrm>
          <a:prstGeom prst="rect">
            <a:avLst/>
          </a:prstGeom>
        </p:spPr>
      </p:pic>
      <p:sp>
        <p:nvSpPr>
          <p:cNvPr id="6" name="Text 3"/>
          <p:cNvSpPr txBox="1"/>
          <p:nvPr/>
        </p:nvSpPr>
        <p:spPr>
          <a:xfrm>
            <a:off x="1691640" y="1691640"/>
            <a:ext cx="21488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Backend</a:t>
            </a:r>
            <a:endParaRPr lang="en-US" sz="2000" dirty="0"/>
          </a:p>
        </p:txBody>
      </p:sp>
      <p:sp>
        <p:nvSpPr>
          <p:cNvPr id="7" name="Text 4"/>
          <p:cNvSpPr txBox="1"/>
          <p:nvPr/>
        </p:nvSpPr>
        <p:spPr>
          <a:xfrm>
            <a:off x="822960" y="2514600"/>
            <a:ext cx="3017520" cy="365760"/>
          </a:xfrm>
          <a:prstGeom prst="rect">
            <a:avLst/>
          </a:prstGeom>
          <a:noFill/>
          <a:ln/>
        </p:spPr>
        <p:txBody>
          <a:bodyPr wrap="square" lIns="0" tIns="0" rIns="0" bIns="0" rtlCol="0" anchor="t"/>
          <a:lstStyle/>
          <a:p>
            <a:pPr indent="0" marL="0">
              <a:buNone/>
            </a:pPr>
            <a:r>
              <a:rPr lang="en-US" sz="1500" b="1" dirty="0">
                <a:solidFill>
                  <a:schemeClr val="accent1"/>
                </a:solidFill>
              </a:rPr>
              <a:t>ASP.NET Core 9 · C#</a:t>
            </a:r>
            <a:endParaRPr lang="en-US" sz="1500" dirty="0"/>
          </a:p>
        </p:txBody>
      </p:sp>
      <p:sp>
        <p:nvSpPr>
          <p:cNvPr id="8" name="Text 5"/>
          <p:cNvSpPr txBox="1"/>
          <p:nvPr/>
        </p:nvSpPr>
        <p:spPr>
          <a:xfrm>
            <a:off x="822960" y="2880360"/>
            <a:ext cx="3017520" cy="640080"/>
          </a:xfrm>
          <a:prstGeom prst="rect">
            <a:avLst/>
          </a:prstGeom>
          <a:noFill/>
          <a:ln/>
        </p:spPr>
        <p:txBody>
          <a:bodyPr wrap="square" lIns="0" tIns="0" rIns="0" bIns="0" rtlCol="0" anchor="t"/>
          <a:lstStyle/>
          <a:p>
            <a:pPr indent="0" marL="0">
              <a:buNone/>
            </a:pPr>
            <a:r>
              <a:rPr lang="en-US" sz="1400" dirty="0">
                <a:solidFill>
                  <a:schemeClr val="tx2"/>
                </a:solidFill>
              </a:rPr>
              <a:t>REST API, вбудований DI, висока продуктивність</a:t>
            </a:r>
            <a:endParaRPr lang="en-US" sz="1400" dirty="0"/>
          </a:p>
        </p:txBody>
      </p:sp>
      <p:sp>
        <p:nvSpPr>
          <p:cNvPr id="9" name="stack tile 2"/>
          <p:cNvSpPr/>
          <p:nvPr/>
        </p:nvSpPr>
        <p:spPr>
          <a:xfrm>
            <a:off x="4343400" y="1417320"/>
            <a:ext cx="3474720" cy="2240280"/>
          </a:xfrm>
          <a:prstGeom prst="roundRect">
            <a:avLst>
              <a:gd name="adj" fmla="val 4898"/>
            </a:avLst>
          </a:prstGeom>
          <a:solidFill>
            <a:schemeClr val="bg2"/>
          </a:solidFill>
          <a:ln/>
        </p:spPr>
      </p:sp>
      <p:sp>
        <p:nvSpPr>
          <p:cNvPr id="10" name="stack icon 2 circle"/>
          <p:cNvSpPr/>
          <p:nvPr/>
        </p:nvSpPr>
        <p:spPr>
          <a:xfrm>
            <a:off x="4617720" y="1691640"/>
            <a:ext cx="685800" cy="685800"/>
          </a:xfrm>
          <a:prstGeom prst="ellipse">
            <a:avLst/>
          </a:prstGeom>
          <a:solidFill>
            <a:schemeClr val="accent1"/>
          </a:solidFill>
          <a:ln/>
        </p:spPr>
      </p:sp>
      <p:pic>
        <p:nvPicPr>
          <p:cNvPr id="11" name="stack icon 2 glyph" descr="preencoded.png">    </p:cNvPr>
          <p:cNvPicPr>
            <a:picLocks noChangeAspect="1"/>
          </p:cNvPicPr>
          <p:nvPr/>
        </p:nvPicPr>
        <p:blipFill>
          <a:blip r:embed="rId2"/>
          <a:stretch>
            <a:fillRect/>
          </a:stretch>
        </p:blipFill>
        <p:spPr>
          <a:xfrm>
            <a:off x="4789170" y="1863090"/>
            <a:ext cx="342900" cy="342900"/>
          </a:xfrm>
          <a:prstGeom prst="rect">
            <a:avLst/>
          </a:prstGeom>
        </p:spPr>
      </p:pic>
      <p:sp>
        <p:nvSpPr>
          <p:cNvPr id="12" name="Text 8"/>
          <p:cNvSpPr txBox="1"/>
          <p:nvPr/>
        </p:nvSpPr>
        <p:spPr>
          <a:xfrm>
            <a:off x="5486400" y="1691640"/>
            <a:ext cx="21488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Дані</a:t>
            </a:r>
            <a:endParaRPr lang="en-US" sz="2000" dirty="0"/>
          </a:p>
        </p:txBody>
      </p:sp>
      <p:sp>
        <p:nvSpPr>
          <p:cNvPr id="13" name="Text 9"/>
          <p:cNvSpPr txBox="1"/>
          <p:nvPr/>
        </p:nvSpPr>
        <p:spPr>
          <a:xfrm>
            <a:off x="4617720" y="2514600"/>
            <a:ext cx="3017520" cy="365760"/>
          </a:xfrm>
          <a:prstGeom prst="rect">
            <a:avLst/>
          </a:prstGeom>
          <a:noFill/>
          <a:ln/>
        </p:spPr>
        <p:txBody>
          <a:bodyPr wrap="square" lIns="0" tIns="0" rIns="0" bIns="0" rtlCol="0" anchor="t"/>
          <a:lstStyle/>
          <a:p>
            <a:pPr indent="0" marL="0">
              <a:buNone/>
            </a:pPr>
            <a:r>
              <a:rPr lang="en-US" sz="1500" b="1" dirty="0">
                <a:solidFill>
                  <a:schemeClr val="accent1"/>
                </a:solidFill>
              </a:rPr>
              <a:t>EF Core 9 · PostgreSQL 16</a:t>
            </a:r>
            <a:endParaRPr lang="en-US" sz="1500" dirty="0"/>
          </a:p>
        </p:txBody>
      </p:sp>
      <p:sp>
        <p:nvSpPr>
          <p:cNvPr id="14" name="Text 10"/>
          <p:cNvSpPr txBox="1"/>
          <p:nvPr/>
        </p:nvSpPr>
        <p:spPr>
          <a:xfrm>
            <a:off x="4617720" y="2880360"/>
            <a:ext cx="3017520" cy="640080"/>
          </a:xfrm>
          <a:prstGeom prst="rect">
            <a:avLst/>
          </a:prstGeom>
          <a:noFill/>
          <a:ln/>
        </p:spPr>
        <p:txBody>
          <a:bodyPr wrap="square" lIns="0" tIns="0" rIns="0" bIns="0" rtlCol="0" anchor="t"/>
          <a:lstStyle/>
          <a:p>
            <a:pPr indent="0" marL="0">
              <a:buNone/>
            </a:pPr>
            <a:r>
              <a:rPr lang="en-US" sz="1400" dirty="0">
                <a:solidFill>
                  <a:schemeClr val="tx2"/>
                </a:solidFill>
              </a:rPr>
              <a:t>Code First, міграції, надійна open-source СУБД</a:t>
            </a:r>
            <a:endParaRPr lang="en-US" sz="1400" dirty="0"/>
          </a:p>
        </p:txBody>
      </p:sp>
      <p:sp>
        <p:nvSpPr>
          <p:cNvPr id="15" name="stack tile 3"/>
          <p:cNvSpPr/>
          <p:nvPr/>
        </p:nvSpPr>
        <p:spPr>
          <a:xfrm>
            <a:off x="8138160" y="1417320"/>
            <a:ext cx="3474720" cy="2240280"/>
          </a:xfrm>
          <a:prstGeom prst="roundRect">
            <a:avLst>
              <a:gd name="adj" fmla="val 4898"/>
            </a:avLst>
          </a:prstGeom>
          <a:solidFill>
            <a:schemeClr val="bg2"/>
          </a:solidFill>
          <a:ln/>
        </p:spPr>
      </p:sp>
      <p:sp>
        <p:nvSpPr>
          <p:cNvPr id="16" name="stack icon 3 circle"/>
          <p:cNvSpPr/>
          <p:nvPr/>
        </p:nvSpPr>
        <p:spPr>
          <a:xfrm>
            <a:off x="8412480" y="1691640"/>
            <a:ext cx="685800" cy="685800"/>
          </a:xfrm>
          <a:prstGeom prst="ellipse">
            <a:avLst/>
          </a:prstGeom>
          <a:solidFill>
            <a:schemeClr val="accent1"/>
          </a:solidFill>
          <a:ln/>
        </p:spPr>
      </p:sp>
      <p:pic>
        <p:nvPicPr>
          <p:cNvPr id="17" name="stack icon 3 glyph" descr="preencoded.png">    </p:cNvPr>
          <p:cNvPicPr>
            <a:picLocks noChangeAspect="1"/>
          </p:cNvPicPr>
          <p:nvPr/>
        </p:nvPicPr>
        <p:blipFill>
          <a:blip r:embed="rId3"/>
          <a:stretch>
            <a:fillRect/>
          </a:stretch>
        </p:blipFill>
        <p:spPr>
          <a:xfrm>
            <a:off x="8583930" y="1863090"/>
            <a:ext cx="342900" cy="342900"/>
          </a:xfrm>
          <a:prstGeom prst="rect">
            <a:avLst/>
          </a:prstGeom>
        </p:spPr>
      </p:pic>
      <p:sp>
        <p:nvSpPr>
          <p:cNvPr id="18" name="Text 13"/>
          <p:cNvSpPr txBox="1"/>
          <p:nvPr/>
        </p:nvSpPr>
        <p:spPr>
          <a:xfrm>
            <a:off x="9281160" y="1691640"/>
            <a:ext cx="21488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Frontend</a:t>
            </a:r>
            <a:endParaRPr lang="en-US" sz="2000" dirty="0"/>
          </a:p>
        </p:txBody>
      </p:sp>
      <p:sp>
        <p:nvSpPr>
          <p:cNvPr id="19" name="Text 14"/>
          <p:cNvSpPr txBox="1"/>
          <p:nvPr/>
        </p:nvSpPr>
        <p:spPr>
          <a:xfrm>
            <a:off x="8412480" y="2514600"/>
            <a:ext cx="3017520" cy="365760"/>
          </a:xfrm>
          <a:prstGeom prst="rect">
            <a:avLst/>
          </a:prstGeom>
          <a:noFill/>
          <a:ln/>
        </p:spPr>
        <p:txBody>
          <a:bodyPr wrap="square" lIns="0" tIns="0" rIns="0" bIns="0" rtlCol="0" anchor="t"/>
          <a:lstStyle/>
          <a:p>
            <a:pPr indent="0" marL="0">
              <a:buNone/>
            </a:pPr>
            <a:r>
              <a:rPr lang="en-US" sz="1500" b="1" dirty="0">
                <a:solidFill>
                  <a:schemeClr val="accent1"/>
                </a:solidFill>
              </a:rPr>
              <a:t>React 19 · Vite · Tailwind CSS</a:t>
            </a:r>
            <a:endParaRPr lang="en-US" sz="1500" dirty="0"/>
          </a:p>
        </p:txBody>
      </p:sp>
      <p:sp>
        <p:nvSpPr>
          <p:cNvPr id="20" name="Text 15"/>
          <p:cNvSpPr txBox="1"/>
          <p:nvPr/>
        </p:nvSpPr>
        <p:spPr>
          <a:xfrm>
            <a:off x="8412480" y="2880360"/>
            <a:ext cx="3017520" cy="640080"/>
          </a:xfrm>
          <a:prstGeom prst="rect">
            <a:avLst/>
          </a:prstGeom>
          <a:noFill/>
          <a:ln/>
        </p:spPr>
        <p:txBody>
          <a:bodyPr wrap="square" lIns="0" tIns="0" rIns="0" bIns="0" rtlCol="0" anchor="t"/>
          <a:lstStyle/>
          <a:p>
            <a:pPr indent="0" marL="0">
              <a:buNone/>
            </a:pPr>
            <a:r>
              <a:rPr lang="en-US" sz="1400" dirty="0">
                <a:solidFill>
                  <a:schemeClr val="tx2"/>
                </a:solidFill>
              </a:rPr>
              <a:t>SPA, швидка збірка, адаптивна верстка</a:t>
            </a:r>
            <a:endParaRPr lang="en-US" sz="1400" dirty="0"/>
          </a:p>
        </p:txBody>
      </p:sp>
      <p:sp>
        <p:nvSpPr>
          <p:cNvPr id="21" name="stack tile 4"/>
          <p:cNvSpPr/>
          <p:nvPr/>
        </p:nvSpPr>
        <p:spPr>
          <a:xfrm>
            <a:off x="548640" y="3931920"/>
            <a:ext cx="3474720" cy="2240280"/>
          </a:xfrm>
          <a:prstGeom prst="roundRect">
            <a:avLst>
              <a:gd name="adj" fmla="val 4898"/>
            </a:avLst>
          </a:prstGeom>
          <a:solidFill>
            <a:schemeClr val="bg2"/>
          </a:solidFill>
          <a:ln/>
        </p:spPr>
      </p:sp>
      <p:sp>
        <p:nvSpPr>
          <p:cNvPr id="22" name="stack icon 4 circle"/>
          <p:cNvSpPr/>
          <p:nvPr/>
        </p:nvSpPr>
        <p:spPr>
          <a:xfrm>
            <a:off x="822960" y="4206240"/>
            <a:ext cx="685800" cy="685800"/>
          </a:xfrm>
          <a:prstGeom prst="ellipse">
            <a:avLst/>
          </a:prstGeom>
          <a:solidFill>
            <a:schemeClr val="accent1"/>
          </a:solidFill>
          <a:ln/>
        </p:spPr>
      </p:sp>
      <p:pic>
        <p:nvPicPr>
          <p:cNvPr id="23" name="stack icon 4 glyph" descr="preencoded.png">    </p:cNvPr>
          <p:cNvPicPr>
            <a:picLocks noChangeAspect="1"/>
          </p:cNvPicPr>
          <p:nvPr/>
        </p:nvPicPr>
        <p:blipFill>
          <a:blip r:embed="rId4"/>
          <a:stretch>
            <a:fillRect/>
          </a:stretch>
        </p:blipFill>
        <p:spPr>
          <a:xfrm>
            <a:off x="994410" y="4377690"/>
            <a:ext cx="342900" cy="342900"/>
          </a:xfrm>
          <a:prstGeom prst="rect">
            <a:avLst/>
          </a:prstGeom>
        </p:spPr>
      </p:pic>
      <p:sp>
        <p:nvSpPr>
          <p:cNvPr id="24" name="Text 18"/>
          <p:cNvSpPr txBox="1"/>
          <p:nvPr/>
        </p:nvSpPr>
        <p:spPr>
          <a:xfrm>
            <a:off x="1691640" y="4206240"/>
            <a:ext cx="21488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Безпека</a:t>
            </a:r>
            <a:endParaRPr lang="en-US" sz="2000" dirty="0"/>
          </a:p>
        </p:txBody>
      </p:sp>
      <p:sp>
        <p:nvSpPr>
          <p:cNvPr id="25" name="Text 19"/>
          <p:cNvSpPr txBox="1"/>
          <p:nvPr/>
        </p:nvSpPr>
        <p:spPr>
          <a:xfrm>
            <a:off x="822960" y="5029200"/>
            <a:ext cx="3017520" cy="365760"/>
          </a:xfrm>
          <a:prstGeom prst="rect">
            <a:avLst/>
          </a:prstGeom>
          <a:noFill/>
          <a:ln/>
        </p:spPr>
        <p:txBody>
          <a:bodyPr wrap="square" lIns="0" tIns="0" rIns="0" bIns="0" rtlCol="0" anchor="t"/>
          <a:lstStyle/>
          <a:p>
            <a:pPr indent="0" marL="0">
              <a:buNone/>
            </a:pPr>
            <a:r>
              <a:rPr lang="en-US" sz="1500" b="1" dirty="0">
                <a:solidFill>
                  <a:schemeClr val="accent1"/>
                </a:solidFill>
              </a:rPr>
              <a:t>JWT · BCrypt · ролі</a:t>
            </a:r>
            <a:endParaRPr lang="en-US" sz="1500" dirty="0"/>
          </a:p>
        </p:txBody>
      </p:sp>
      <p:sp>
        <p:nvSpPr>
          <p:cNvPr id="26" name="Text 20"/>
          <p:cNvSpPr txBox="1"/>
          <p:nvPr/>
        </p:nvSpPr>
        <p:spPr>
          <a:xfrm>
            <a:off x="822960" y="5394960"/>
            <a:ext cx="3017520" cy="640080"/>
          </a:xfrm>
          <a:prstGeom prst="rect">
            <a:avLst/>
          </a:prstGeom>
          <a:noFill/>
          <a:ln/>
        </p:spPr>
        <p:txBody>
          <a:bodyPr wrap="square" lIns="0" tIns="0" rIns="0" bIns="0" rtlCol="0" anchor="t"/>
          <a:lstStyle/>
          <a:p>
            <a:pPr indent="0" marL="0">
              <a:buNone/>
            </a:pPr>
            <a:r>
              <a:rPr lang="en-US" sz="1400" dirty="0">
                <a:solidFill>
                  <a:schemeClr val="tx2"/>
                </a:solidFill>
              </a:rPr>
              <a:t>Автентифікація без сесій, хешування паролів</a:t>
            </a:r>
            <a:endParaRPr lang="en-US" sz="1400" dirty="0"/>
          </a:p>
        </p:txBody>
      </p:sp>
      <p:sp>
        <p:nvSpPr>
          <p:cNvPr id="27" name="stack tile 5"/>
          <p:cNvSpPr/>
          <p:nvPr/>
        </p:nvSpPr>
        <p:spPr>
          <a:xfrm>
            <a:off x="4343400" y="3931920"/>
            <a:ext cx="3474720" cy="2240280"/>
          </a:xfrm>
          <a:prstGeom prst="roundRect">
            <a:avLst>
              <a:gd name="adj" fmla="val 4898"/>
            </a:avLst>
          </a:prstGeom>
          <a:solidFill>
            <a:schemeClr val="bg2"/>
          </a:solidFill>
          <a:ln/>
        </p:spPr>
      </p:sp>
      <p:sp>
        <p:nvSpPr>
          <p:cNvPr id="28" name="stack icon 5 circle"/>
          <p:cNvSpPr/>
          <p:nvPr/>
        </p:nvSpPr>
        <p:spPr>
          <a:xfrm>
            <a:off x="4617720" y="4206240"/>
            <a:ext cx="685800" cy="685800"/>
          </a:xfrm>
          <a:prstGeom prst="ellipse">
            <a:avLst/>
          </a:prstGeom>
          <a:solidFill>
            <a:schemeClr val="accent1"/>
          </a:solidFill>
          <a:ln/>
        </p:spPr>
      </p:sp>
      <p:pic>
        <p:nvPicPr>
          <p:cNvPr id="29" name="stack icon 5 glyph" descr="preencoded.png">    </p:cNvPr>
          <p:cNvPicPr>
            <a:picLocks noChangeAspect="1"/>
          </p:cNvPicPr>
          <p:nvPr/>
        </p:nvPicPr>
        <p:blipFill>
          <a:blip r:embed="rId5"/>
          <a:stretch>
            <a:fillRect/>
          </a:stretch>
        </p:blipFill>
        <p:spPr>
          <a:xfrm>
            <a:off x="4789170" y="4377690"/>
            <a:ext cx="342900" cy="342900"/>
          </a:xfrm>
          <a:prstGeom prst="rect">
            <a:avLst/>
          </a:prstGeom>
        </p:spPr>
      </p:pic>
      <p:sp>
        <p:nvSpPr>
          <p:cNvPr id="30" name="Text 23"/>
          <p:cNvSpPr txBox="1"/>
          <p:nvPr/>
        </p:nvSpPr>
        <p:spPr>
          <a:xfrm>
            <a:off x="5486400" y="4206240"/>
            <a:ext cx="21488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Пошта</a:t>
            </a:r>
            <a:endParaRPr lang="en-US" sz="2000" dirty="0"/>
          </a:p>
        </p:txBody>
      </p:sp>
      <p:sp>
        <p:nvSpPr>
          <p:cNvPr id="31" name="Text 24"/>
          <p:cNvSpPr txBox="1"/>
          <p:nvPr/>
        </p:nvSpPr>
        <p:spPr>
          <a:xfrm>
            <a:off x="4617720" y="5029200"/>
            <a:ext cx="3017520" cy="365760"/>
          </a:xfrm>
          <a:prstGeom prst="rect">
            <a:avLst/>
          </a:prstGeom>
          <a:noFill/>
          <a:ln/>
        </p:spPr>
        <p:txBody>
          <a:bodyPr wrap="square" lIns="0" tIns="0" rIns="0" bIns="0" rtlCol="0" anchor="t"/>
          <a:lstStyle/>
          <a:p>
            <a:pPr indent="0" marL="0">
              <a:buNone/>
            </a:pPr>
            <a:r>
              <a:rPr lang="en-US" sz="1500" b="1" dirty="0">
                <a:solidFill>
                  <a:schemeClr val="accent1"/>
                </a:solidFill>
              </a:rPr>
              <a:t>MailKit (SMTP)</a:t>
            </a:r>
            <a:endParaRPr lang="en-US" sz="1500" dirty="0"/>
          </a:p>
        </p:txBody>
      </p:sp>
      <p:sp>
        <p:nvSpPr>
          <p:cNvPr id="32" name="Text 25"/>
          <p:cNvSpPr txBox="1"/>
          <p:nvPr/>
        </p:nvSpPr>
        <p:spPr>
          <a:xfrm>
            <a:off x="4617720" y="5394960"/>
            <a:ext cx="3017520" cy="640080"/>
          </a:xfrm>
          <a:prstGeom prst="rect">
            <a:avLst/>
          </a:prstGeom>
          <a:noFill/>
          <a:ln/>
        </p:spPr>
        <p:txBody>
          <a:bodyPr wrap="square" lIns="0" tIns="0" rIns="0" bIns="0" rtlCol="0" anchor="t"/>
          <a:lstStyle/>
          <a:p>
            <a:pPr indent="0" marL="0">
              <a:buNone/>
            </a:pPr>
            <a:r>
              <a:rPr lang="en-US" sz="1400" dirty="0">
                <a:solidFill>
                  <a:schemeClr val="tx2"/>
                </a:solidFill>
              </a:rPr>
              <a:t>Надсилання кодів підтвердження email</a:t>
            </a:r>
            <a:endParaRPr lang="en-US" sz="1400" dirty="0"/>
          </a:p>
        </p:txBody>
      </p:sp>
      <p:sp>
        <p:nvSpPr>
          <p:cNvPr id="33" name="stack tile 6"/>
          <p:cNvSpPr/>
          <p:nvPr/>
        </p:nvSpPr>
        <p:spPr>
          <a:xfrm>
            <a:off x="8138160" y="3931920"/>
            <a:ext cx="3474720" cy="2240280"/>
          </a:xfrm>
          <a:prstGeom prst="roundRect">
            <a:avLst>
              <a:gd name="adj" fmla="val 4898"/>
            </a:avLst>
          </a:prstGeom>
          <a:solidFill>
            <a:schemeClr val="bg2"/>
          </a:solidFill>
          <a:ln/>
        </p:spPr>
      </p:sp>
      <p:sp>
        <p:nvSpPr>
          <p:cNvPr id="34" name="stack icon 6 circle"/>
          <p:cNvSpPr/>
          <p:nvPr/>
        </p:nvSpPr>
        <p:spPr>
          <a:xfrm>
            <a:off x="8412480" y="4206240"/>
            <a:ext cx="685800" cy="685800"/>
          </a:xfrm>
          <a:prstGeom prst="ellipse">
            <a:avLst/>
          </a:prstGeom>
          <a:solidFill>
            <a:schemeClr val="accent1"/>
          </a:solidFill>
          <a:ln/>
        </p:spPr>
      </p:sp>
      <p:pic>
        <p:nvPicPr>
          <p:cNvPr id="35" name="stack icon 6 glyph" descr="preencoded.png">    </p:cNvPr>
          <p:cNvPicPr>
            <a:picLocks noChangeAspect="1"/>
          </p:cNvPicPr>
          <p:nvPr/>
        </p:nvPicPr>
        <p:blipFill>
          <a:blip r:embed="rId6"/>
          <a:stretch>
            <a:fillRect/>
          </a:stretch>
        </p:blipFill>
        <p:spPr>
          <a:xfrm>
            <a:off x="8583930" y="4377690"/>
            <a:ext cx="342900" cy="342900"/>
          </a:xfrm>
          <a:prstGeom prst="rect">
            <a:avLst/>
          </a:prstGeom>
        </p:spPr>
      </p:pic>
      <p:sp>
        <p:nvSpPr>
          <p:cNvPr id="36" name="Text 28"/>
          <p:cNvSpPr txBox="1"/>
          <p:nvPr/>
        </p:nvSpPr>
        <p:spPr>
          <a:xfrm>
            <a:off x="9281160" y="4206240"/>
            <a:ext cx="2148840" cy="6858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Інструменти</a:t>
            </a:r>
            <a:endParaRPr lang="en-US" sz="2000" dirty="0"/>
          </a:p>
        </p:txBody>
      </p:sp>
      <p:sp>
        <p:nvSpPr>
          <p:cNvPr id="37" name="Text 29"/>
          <p:cNvSpPr txBox="1"/>
          <p:nvPr/>
        </p:nvSpPr>
        <p:spPr>
          <a:xfrm>
            <a:off x="8412480" y="5029200"/>
            <a:ext cx="3017520" cy="365760"/>
          </a:xfrm>
          <a:prstGeom prst="rect">
            <a:avLst/>
          </a:prstGeom>
          <a:noFill/>
          <a:ln/>
        </p:spPr>
        <p:txBody>
          <a:bodyPr wrap="square" lIns="0" tIns="0" rIns="0" bIns="0" rtlCol="0" anchor="t"/>
          <a:lstStyle/>
          <a:p>
            <a:pPr indent="0" marL="0">
              <a:buNone/>
            </a:pPr>
            <a:r>
              <a:rPr lang="en-US" sz="1500" b="1" dirty="0">
                <a:solidFill>
                  <a:schemeClr val="accent1"/>
                </a:solidFill>
              </a:rPr>
              <a:t>Git · Docker Compose · Swagger</a:t>
            </a:r>
            <a:endParaRPr lang="en-US" sz="1500" dirty="0"/>
          </a:p>
        </p:txBody>
      </p:sp>
      <p:sp>
        <p:nvSpPr>
          <p:cNvPr id="38" name="Text 30"/>
          <p:cNvSpPr txBox="1"/>
          <p:nvPr/>
        </p:nvSpPr>
        <p:spPr>
          <a:xfrm>
            <a:off x="8412480" y="5394960"/>
            <a:ext cx="3017520" cy="640080"/>
          </a:xfrm>
          <a:prstGeom prst="rect">
            <a:avLst/>
          </a:prstGeom>
          <a:noFill/>
          <a:ln/>
        </p:spPr>
        <p:txBody>
          <a:bodyPr wrap="square" lIns="0" tIns="0" rIns="0" bIns="0" rtlCol="0" anchor="t"/>
          <a:lstStyle/>
          <a:p>
            <a:pPr indent="0" marL="0">
              <a:buNone/>
            </a:pPr>
            <a:r>
              <a:rPr lang="en-US" sz="1400" dirty="0">
                <a:solidFill>
                  <a:schemeClr val="tx2"/>
                </a:solidFill>
              </a:rPr>
              <a:t>Відтворюване оточення, документація API</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Архітектура системи: Clean Architecture</a:t>
            </a:r>
            <a:endParaRPr lang="en-US" sz="3400" dirty="0"/>
          </a:p>
        </p:txBody>
      </p:sp>
      <p:sp>
        <p:nvSpPr>
          <p:cNvPr id="3" name="client box"/>
          <p:cNvSpPr/>
          <p:nvPr/>
        </p:nvSpPr>
        <p:spPr>
          <a:xfrm>
            <a:off x="548640" y="1417320"/>
            <a:ext cx="4937760" cy="731520"/>
          </a:xfrm>
          <a:prstGeom prst="roundRect">
            <a:avLst>
              <a:gd name="adj" fmla="val 10000"/>
            </a:avLst>
          </a:prstGeom>
          <a:solidFill>
            <a:schemeClr val="accent2"/>
          </a:solidFill>
          <a:ln/>
        </p:spPr>
      </p:sp>
      <p:sp>
        <p:nvSpPr>
          <p:cNvPr id="4" name="Text 2"/>
          <p:cNvSpPr txBox="1"/>
          <p:nvPr/>
        </p:nvSpPr>
        <p:spPr>
          <a:xfrm>
            <a:off x="685800" y="1417320"/>
            <a:ext cx="4663440" cy="731520"/>
          </a:xfrm>
          <a:prstGeom prst="rect">
            <a:avLst/>
          </a:prstGeom>
          <a:noFill/>
          <a:ln/>
        </p:spPr>
        <p:txBody>
          <a:bodyPr wrap="square" lIns="0" tIns="0" rIns="0" bIns="0" rtlCol="0" anchor="ctr"/>
          <a:lstStyle/>
          <a:p>
            <a:pPr indent="0" marL="0">
              <a:buNone/>
            </a:pPr>
            <a:r>
              <a:rPr lang="en-US" sz="1500" b="1" dirty="0">
                <a:solidFill>
                  <a:schemeClr val="tx1"/>
                </a:solidFill>
              </a:rPr>
              <a:t>React SPA (tastemap-frontend)</a:t>
            </a:r>
            <a:endParaRPr lang="en-US" sz="1500" dirty="0"/>
          </a:p>
          <a:p>
            <a:pPr indent="0" marL="0">
              <a:buNone/>
            </a:pPr>
            <a:r>
              <a:rPr lang="en-US" sz="1200" dirty="0">
                <a:solidFill>
                  <a:schemeClr val="tx1"/>
                </a:solidFill>
              </a:rPr>
              <a:t>9 сторінок · React Router · Axios</a:t>
            </a:r>
            <a:endParaRPr lang="en-US" sz="1500" dirty="0"/>
          </a:p>
        </p:txBody>
      </p:sp>
      <p:sp>
        <p:nvSpPr>
          <p:cNvPr id="5" name="api box"/>
          <p:cNvSpPr/>
          <p:nvPr/>
        </p:nvSpPr>
        <p:spPr>
          <a:xfrm>
            <a:off x="548640" y="2606040"/>
            <a:ext cx="4937760" cy="731520"/>
          </a:xfrm>
          <a:prstGeom prst="roundRect">
            <a:avLst>
              <a:gd name="adj" fmla="val 10000"/>
            </a:avLst>
          </a:prstGeom>
          <a:solidFill>
            <a:schemeClr val="tx1"/>
          </a:solidFill>
          <a:ln/>
        </p:spPr>
      </p:sp>
      <p:sp>
        <p:nvSpPr>
          <p:cNvPr id="6" name="Text 4"/>
          <p:cNvSpPr txBox="1"/>
          <p:nvPr/>
        </p:nvSpPr>
        <p:spPr>
          <a:xfrm>
            <a:off x="685800" y="2606040"/>
            <a:ext cx="4663440" cy="731520"/>
          </a:xfrm>
          <a:prstGeom prst="rect">
            <a:avLst/>
          </a:prstGeom>
          <a:noFill/>
          <a:ln/>
        </p:spPr>
        <p:txBody>
          <a:bodyPr wrap="square" lIns="0" tIns="0" rIns="0" bIns="0" rtlCol="0" anchor="ctr"/>
          <a:lstStyle/>
          <a:p>
            <a:pPr indent="0" marL="0">
              <a:buNone/>
            </a:pPr>
            <a:r>
              <a:rPr lang="en-US" sz="1500" b="1" dirty="0">
                <a:solidFill>
                  <a:schemeClr val="bg1"/>
                </a:solidFill>
              </a:rPr>
              <a:t>TasteMap — API</a:t>
            </a:r>
            <a:endParaRPr lang="en-US" sz="1500" dirty="0"/>
          </a:p>
          <a:p>
            <a:pPr indent="0" marL="0">
              <a:buNone/>
            </a:pPr>
            <a:r>
              <a:rPr lang="en-US" sz="1200" dirty="0">
                <a:solidFill>
                  <a:schemeClr val="bg1"/>
                </a:solidFill>
              </a:rPr>
              <a:t>Контролери Auth, Restaurant, Booking, Review · JWT · CORS</a:t>
            </a:r>
            <a:endParaRPr lang="en-US" sz="1500" dirty="0"/>
          </a:p>
        </p:txBody>
      </p:sp>
      <p:sp>
        <p:nvSpPr>
          <p:cNvPr id="7" name="application box"/>
          <p:cNvSpPr/>
          <p:nvPr/>
        </p:nvSpPr>
        <p:spPr>
          <a:xfrm>
            <a:off x="548640" y="3794760"/>
            <a:ext cx="4937760" cy="731520"/>
          </a:xfrm>
          <a:prstGeom prst="roundRect">
            <a:avLst>
              <a:gd name="adj" fmla="val 10000"/>
            </a:avLst>
          </a:prstGeom>
          <a:solidFill>
            <a:schemeClr val="accent1"/>
          </a:solidFill>
          <a:ln/>
        </p:spPr>
      </p:sp>
      <p:sp>
        <p:nvSpPr>
          <p:cNvPr id="8" name="Text 6"/>
          <p:cNvSpPr txBox="1"/>
          <p:nvPr/>
        </p:nvSpPr>
        <p:spPr>
          <a:xfrm>
            <a:off x="685800" y="3794760"/>
            <a:ext cx="4663440" cy="731520"/>
          </a:xfrm>
          <a:prstGeom prst="rect">
            <a:avLst/>
          </a:prstGeom>
          <a:noFill/>
          <a:ln/>
        </p:spPr>
        <p:txBody>
          <a:bodyPr wrap="square" lIns="0" tIns="0" rIns="0" bIns="0" rtlCol="0" anchor="ctr"/>
          <a:lstStyle/>
          <a:p>
            <a:pPr indent="0" marL="0">
              <a:buNone/>
            </a:pPr>
            <a:r>
              <a:rPr lang="en-US" sz="1500" b="1" dirty="0">
                <a:solidFill>
                  <a:schemeClr val="bg1"/>
                </a:solidFill>
              </a:rPr>
              <a:t>TasteMap.Application</a:t>
            </a:r>
            <a:endParaRPr lang="en-US" sz="1500" dirty="0"/>
          </a:p>
          <a:p>
            <a:pPr indent="0" marL="0">
              <a:buNone/>
            </a:pPr>
            <a:r>
              <a:rPr lang="en-US" sz="1200" dirty="0">
                <a:solidFill>
                  <a:schemeClr val="bg1"/>
                </a:solidFill>
              </a:rPr>
              <a:t>Сервіси бізнес-логіки · DTO · інтерфейси</a:t>
            </a:r>
            <a:endParaRPr lang="en-US" sz="1500" dirty="0"/>
          </a:p>
        </p:txBody>
      </p:sp>
      <p:sp>
        <p:nvSpPr>
          <p:cNvPr id="9" name="domain box"/>
          <p:cNvSpPr/>
          <p:nvPr/>
        </p:nvSpPr>
        <p:spPr>
          <a:xfrm>
            <a:off x="548640" y="4983480"/>
            <a:ext cx="4937760" cy="731520"/>
          </a:xfrm>
          <a:prstGeom prst="roundRect">
            <a:avLst>
              <a:gd name="adj" fmla="val 10000"/>
            </a:avLst>
          </a:prstGeom>
          <a:solidFill>
            <a:schemeClr val="accent3"/>
          </a:solidFill>
          <a:ln/>
        </p:spPr>
      </p:sp>
      <p:sp>
        <p:nvSpPr>
          <p:cNvPr id="10" name="Text 8"/>
          <p:cNvSpPr txBox="1"/>
          <p:nvPr/>
        </p:nvSpPr>
        <p:spPr>
          <a:xfrm>
            <a:off x="685800" y="4983480"/>
            <a:ext cx="4663440" cy="731520"/>
          </a:xfrm>
          <a:prstGeom prst="rect">
            <a:avLst/>
          </a:prstGeom>
          <a:noFill/>
          <a:ln/>
        </p:spPr>
        <p:txBody>
          <a:bodyPr wrap="square" lIns="0" tIns="0" rIns="0" bIns="0" rtlCol="0" anchor="ctr"/>
          <a:lstStyle/>
          <a:p>
            <a:pPr indent="0" marL="0">
              <a:buNone/>
            </a:pPr>
            <a:r>
              <a:rPr lang="en-US" sz="1500" b="1" dirty="0">
                <a:solidFill>
                  <a:schemeClr val="bg1"/>
                </a:solidFill>
              </a:rPr>
              <a:t>TasteMap.Domain</a:t>
            </a:r>
            <a:endParaRPr lang="en-US" sz="1500" dirty="0"/>
          </a:p>
          <a:p>
            <a:pPr indent="0" marL="0">
              <a:buNone/>
            </a:pPr>
            <a:r>
              <a:rPr lang="en-US" sz="1200" dirty="0">
                <a:solidFill>
                  <a:schemeClr val="bg1"/>
                </a:solidFill>
              </a:rPr>
              <a:t>Сутності: User, Restaurant, Booking, Review, Event</a:t>
            </a:r>
            <a:endParaRPr lang="en-US" sz="1500" dirty="0"/>
          </a:p>
        </p:txBody>
      </p:sp>
      <p:sp>
        <p:nvSpPr>
          <p:cNvPr id="11" name="arrow client-api"/>
          <p:cNvSpPr/>
          <p:nvPr/>
        </p:nvSpPr>
        <p:spPr>
          <a:xfrm>
            <a:off x="3017520" y="2148840"/>
            <a:ext cx="0" cy="457200"/>
          </a:xfrm>
          <a:prstGeom prst="line">
            <a:avLst/>
          </a:prstGeom>
          <a:noFill/>
          <a:ln w="19050">
            <a:solidFill>
              <a:schemeClr val="tx2"/>
            </a:solidFill>
            <a:prstDash val="solid"/>
            <a:tailEnd type="triangle"/>
          </a:ln>
        </p:spPr>
      </p:sp>
      <p:sp>
        <p:nvSpPr>
          <p:cNvPr id="12" name="Text 10"/>
          <p:cNvSpPr txBox="1"/>
          <p:nvPr/>
        </p:nvSpPr>
        <p:spPr>
          <a:xfrm>
            <a:off x="3154680" y="2194560"/>
            <a:ext cx="2286000" cy="365760"/>
          </a:xfrm>
          <a:prstGeom prst="rect">
            <a:avLst/>
          </a:prstGeom>
          <a:noFill/>
          <a:ln/>
        </p:spPr>
        <p:txBody>
          <a:bodyPr wrap="square" lIns="0" tIns="0" rIns="0" bIns="0" rtlCol="0" anchor="ctr"/>
          <a:lstStyle/>
          <a:p>
            <a:pPr indent="0" marL="0">
              <a:buNone/>
            </a:pPr>
            <a:r>
              <a:rPr lang="en-US" sz="1200" dirty="0">
                <a:solidFill>
                  <a:schemeClr val="tx2"/>
                </a:solidFill>
              </a:rPr>
              <a:t>HTTP / JSON + JWT</a:t>
            </a:r>
            <a:endParaRPr lang="en-US" sz="1200" dirty="0"/>
          </a:p>
        </p:txBody>
      </p:sp>
      <p:sp>
        <p:nvSpPr>
          <p:cNvPr id="13" name="arrow api-app"/>
          <p:cNvSpPr/>
          <p:nvPr/>
        </p:nvSpPr>
        <p:spPr>
          <a:xfrm>
            <a:off x="3017520" y="3337560"/>
            <a:ext cx="0" cy="457200"/>
          </a:xfrm>
          <a:prstGeom prst="line">
            <a:avLst/>
          </a:prstGeom>
          <a:noFill/>
          <a:ln w="19050">
            <a:solidFill>
              <a:schemeClr val="tx2"/>
            </a:solidFill>
            <a:prstDash val="solid"/>
            <a:tailEnd type="triangle"/>
          </a:ln>
        </p:spPr>
      </p:sp>
      <p:sp>
        <p:nvSpPr>
          <p:cNvPr id="14" name="arrow app-domain"/>
          <p:cNvSpPr/>
          <p:nvPr/>
        </p:nvSpPr>
        <p:spPr>
          <a:xfrm>
            <a:off x="3017520" y="4526280"/>
            <a:ext cx="0" cy="457200"/>
          </a:xfrm>
          <a:prstGeom prst="line">
            <a:avLst/>
          </a:prstGeom>
          <a:noFill/>
          <a:ln w="19050">
            <a:solidFill>
              <a:schemeClr val="tx2"/>
            </a:solidFill>
            <a:prstDash val="solid"/>
            <a:tailEnd type="triangle"/>
          </a:ln>
        </p:spPr>
      </p:sp>
      <p:sp>
        <p:nvSpPr>
          <p:cNvPr id="15" name="infra box"/>
          <p:cNvSpPr/>
          <p:nvPr/>
        </p:nvSpPr>
        <p:spPr>
          <a:xfrm>
            <a:off x="6035040" y="3794760"/>
            <a:ext cx="2651760" cy="731520"/>
          </a:xfrm>
          <a:prstGeom prst="roundRect">
            <a:avLst>
              <a:gd name="adj" fmla="val 10000"/>
            </a:avLst>
          </a:prstGeom>
          <a:solidFill>
            <a:schemeClr val="tx2"/>
          </a:solidFill>
          <a:ln/>
        </p:spPr>
      </p:sp>
      <p:sp>
        <p:nvSpPr>
          <p:cNvPr id="16" name="Text 14"/>
          <p:cNvSpPr txBox="1"/>
          <p:nvPr/>
        </p:nvSpPr>
        <p:spPr>
          <a:xfrm>
            <a:off x="6172200" y="3794760"/>
            <a:ext cx="2377440" cy="731520"/>
          </a:xfrm>
          <a:prstGeom prst="rect">
            <a:avLst/>
          </a:prstGeom>
          <a:noFill/>
          <a:ln/>
        </p:spPr>
        <p:txBody>
          <a:bodyPr wrap="square" lIns="0" tIns="0" rIns="0" bIns="0" rtlCol="0" anchor="ctr"/>
          <a:lstStyle/>
          <a:p>
            <a:pPr indent="0" marL="0">
              <a:buNone/>
            </a:pPr>
            <a:r>
              <a:rPr lang="en-US" sz="1500" b="1" dirty="0">
                <a:solidFill>
                  <a:schemeClr val="bg1"/>
                </a:solidFill>
              </a:rPr>
              <a:t>Infrastructure</a:t>
            </a:r>
            <a:endParaRPr lang="en-US" sz="1500" dirty="0"/>
          </a:p>
          <a:p>
            <a:pPr indent="0" marL="0">
              <a:buNone/>
            </a:pPr>
            <a:r>
              <a:rPr lang="en-US" sz="1200" dirty="0">
                <a:solidFill>
                  <a:schemeClr val="bg1"/>
                </a:solidFill>
              </a:rPr>
              <a:t>AppDbContext · EmailService</a:t>
            </a:r>
            <a:endParaRPr lang="en-US" sz="1500" dirty="0"/>
          </a:p>
        </p:txBody>
      </p:sp>
      <p:sp>
        <p:nvSpPr>
          <p:cNvPr id="17" name="arrow infra-app"/>
          <p:cNvSpPr/>
          <p:nvPr/>
        </p:nvSpPr>
        <p:spPr>
          <a:xfrm flipH="1">
            <a:off x="5486400" y="4160520"/>
            <a:ext cx="548640" cy="0"/>
          </a:xfrm>
          <a:prstGeom prst="line">
            <a:avLst/>
          </a:prstGeom>
          <a:noFill/>
          <a:ln w="19050">
            <a:solidFill>
              <a:schemeClr val="tx2"/>
            </a:solidFill>
            <a:prstDash val="solid"/>
            <a:tailEnd type="triangle"/>
          </a:ln>
        </p:spPr>
      </p:sp>
      <p:sp>
        <p:nvSpPr>
          <p:cNvPr id="18" name="db box"/>
          <p:cNvSpPr/>
          <p:nvPr/>
        </p:nvSpPr>
        <p:spPr>
          <a:xfrm>
            <a:off x="6035040" y="4983480"/>
            <a:ext cx="1234440" cy="731520"/>
          </a:xfrm>
          <a:prstGeom prst="roundRect">
            <a:avLst>
              <a:gd name="adj" fmla="val 10000"/>
            </a:avLst>
          </a:prstGeom>
          <a:solidFill>
            <a:schemeClr val="bg2"/>
          </a:solidFill>
          <a:ln/>
        </p:spPr>
      </p:sp>
      <p:sp>
        <p:nvSpPr>
          <p:cNvPr id="19" name="Text 17"/>
          <p:cNvSpPr txBox="1"/>
          <p:nvPr/>
        </p:nvSpPr>
        <p:spPr>
          <a:xfrm>
            <a:off x="6172200" y="4983480"/>
            <a:ext cx="960120" cy="731520"/>
          </a:xfrm>
          <a:prstGeom prst="rect">
            <a:avLst/>
          </a:prstGeom>
          <a:noFill/>
          <a:ln/>
        </p:spPr>
        <p:txBody>
          <a:bodyPr wrap="square" lIns="0" tIns="0" rIns="0" bIns="0" rtlCol="0" anchor="ctr"/>
          <a:lstStyle/>
          <a:p>
            <a:pPr indent="0" marL="0">
              <a:buNone/>
            </a:pPr>
            <a:r>
              <a:rPr lang="en-US" sz="1500" b="1" dirty="0">
                <a:solidFill>
                  <a:schemeClr val="tx1"/>
                </a:solidFill>
              </a:rPr>
              <a:t>PostgreSQL</a:t>
            </a:r>
            <a:endParaRPr lang="en-US" sz="1500" dirty="0"/>
          </a:p>
          <a:p>
            <a:pPr indent="0" marL="0">
              <a:buNone/>
            </a:pPr>
            <a:r>
              <a:rPr lang="en-US" sz="1200" dirty="0">
                <a:solidFill>
                  <a:schemeClr val="tx1"/>
                </a:solidFill>
              </a:rPr>
              <a:t>Docker</a:t>
            </a:r>
            <a:endParaRPr lang="en-US" sz="1500" dirty="0"/>
          </a:p>
        </p:txBody>
      </p:sp>
      <p:sp>
        <p:nvSpPr>
          <p:cNvPr id="20" name="smtp box"/>
          <p:cNvSpPr/>
          <p:nvPr/>
        </p:nvSpPr>
        <p:spPr>
          <a:xfrm>
            <a:off x="7452360" y="4983480"/>
            <a:ext cx="1234440" cy="731520"/>
          </a:xfrm>
          <a:prstGeom prst="roundRect">
            <a:avLst>
              <a:gd name="adj" fmla="val 10000"/>
            </a:avLst>
          </a:prstGeom>
          <a:solidFill>
            <a:schemeClr val="bg2"/>
          </a:solidFill>
          <a:ln/>
        </p:spPr>
      </p:sp>
      <p:sp>
        <p:nvSpPr>
          <p:cNvPr id="21" name="Text 19"/>
          <p:cNvSpPr txBox="1"/>
          <p:nvPr/>
        </p:nvSpPr>
        <p:spPr>
          <a:xfrm>
            <a:off x="7589520" y="4983480"/>
            <a:ext cx="960120" cy="731520"/>
          </a:xfrm>
          <a:prstGeom prst="rect">
            <a:avLst/>
          </a:prstGeom>
          <a:noFill/>
          <a:ln/>
        </p:spPr>
        <p:txBody>
          <a:bodyPr wrap="square" lIns="0" tIns="0" rIns="0" bIns="0" rtlCol="0" anchor="ctr"/>
          <a:lstStyle/>
          <a:p>
            <a:pPr indent="0" marL="0">
              <a:buNone/>
            </a:pPr>
            <a:r>
              <a:rPr lang="en-US" sz="1500" b="1" dirty="0">
                <a:solidFill>
                  <a:schemeClr val="tx1"/>
                </a:solidFill>
              </a:rPr>
              <a:t>SMTP</a:t>
            </a:r>
            <a:endParaRPr lang="en-US" sz="1500" dirty="0"/>
          </a:p>
          <a:p>
            <a:pPr indent="0" marL="0">
              <a:buNone/>
            </a:pPr>
            <a:r>
              <a:rPr lang="en-US" sz="1200" dirty="0">
                <a:solidFill>
                  <a:schemeClr val="tx1"/>
                </a:solidFill>
              </a:rPr>
              <a:t>MailKit</a:t>
            </a:r>
            <a:endParaRPr lang="en-US" sz="1500" dirty="0"/>
          </a:p>
        </p:txBody>
      </p:sp>
      <p:sp>
        <p:nvSpPr>
          <p:cNvPr id="22" name="arrow infra-db"/>
          <p:cNvSpPr/>
          <p:nvPr/>
        </p:nvSpPr>
        <p:spPr>
          <a:xfrm>
            <a:off x="6647688" y="4526280"/>
            <a:ext cx="0" cy="457200"/>
          </a:xfrm>
          <a:prstGeom prst="line">
            <a:avLst/>
          </a:prstGeom>
          <a:noFill/>
          <a:ln w="19050">
            <a:solidFill>
              <a:schemeClr val="tx2"/>
            </a:solidFill>
            <a:prstDash val="solid"/>
            <a:tailEnd type="triangle"/>
          </a:ln>
        </p:spPr>
      </p:sp>
      <p:sp>
        <p:nvSpPr>
          <p:cNvPr id="23" name="arrow infra-smtp"/>
          <p:cNvSpPr/>
          <p:nvPr/>
        </p:nvSpPr>
        <p:spPr>
          <a:xfrm>
            <a:off x="8065008" y="4526280"/>
            <a:ext cx="0" cy="457200"/>
          </a:xfrm>
          <a:prstGeom prst="line">
            <a:avLst/>
          </a:prstGeom>
          <a:noFill/>
          <a:ln w="19050">
            <a:solidFill>
              <a:schemeClr val="tx2"/>
            </a:solidFill>
            <a:prstDash val="solid"/>
            <a:tailEnd type="triangle"/>
          </a:ln>
        </p:spPr>
      </p:sp>
      <p:sp>
        <p:nvSpPr>
          <p:cNvPr id="24" name="Text 22"/>
          <p:cNvSpPr txBox="1"/>
          <p:nvPr/>
        </p:nvSpPr>
        <p:spPr>
          <a:xfrm>
            <a:off x="6035040" y="3337560"/>
            <a:ext cx="2651760" cy="411480"/>
          </a:xfrm>
          <a:prstGeom prst="rect">
            <a:avLst/>
          </a:prstGeom>
          <a:noFill/>
          <a:ln/>
        </p:spPr>
        <p:txBody>
          <a:bodyPr wrap="square" lIns="0" tIns="0" rIns="0" bIns="0" rtlCol="0" anchor="b"/>
          <a:lstStyle/>
          <a:p>
            <a:pPr indent="0" marL="0">
              <a:buNone/>
            </a:pPr>
            <a:r>
              <a:rPr lang="en-US" sz="1200" dirty="0">
                <a:solidFill>
                  <a:schemeClr val="tx2"/>
                </a:solidFill>
              </a:rPr>
              <a:t>реалізує IAppDbContext, IEmailService</a:t>
            </a:r>
            <a:endParaRPr lang="en-US" sz="1200" dirty="0"/>
          </a:p>
        </p:txBody>
      </p:sp>
      <p:sp>
        <p:nvSpPr>
          <p:cNvPr id="25" name="principles card"/>
          <p:cNvSpPr/>
          <p:nvPr/>
        </p:nvSpPr>
        <p:spPr>
          <a:xfrm>
            <a:off x="9144000" y="1417320"/>
            <a:ext cx="2496312" cy="4297680"/>
          </a:xfrm>
          <a:prstGeom prst="roundRect">
            <a:avLst>
              <a:gd name="adj" fmla="val 4396"/>
            </a:avLst>
          </a:prstGeom>
          <a:solidFill>
            <a:schemeClr val="bg2"/>
          </a:solidFill>
          <a:ln/>
        </p:spPr>
      </p:sp>
      <p:sp>
        <p:nvSpPr>
          <p:cNvPr id="26" name="Text 24"/>
          <p:cNvSpPr txBox="1"/>
          <p:nvPr/>
        </p:nvSpPr>
        <p:spPr>
          <a:xfrm>
            <a:off x="9372600" y="1645920"/>
            <a:ext cx="21031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Принципи</a:t>
            </a:r>
            <a:endParaRPr lang="en-US" sz="1800" dirty="0"/>
          </a:p>
        </p:txBody>
      </p:sp>
      <p:sp>
        <p:nvSpPr>
          <p:cNvPr id="27" name="Text 25"/>
          <p:cNvSpPr txBox="1"/>
          <p:nvPr/>
        </p:nvSpPr>
        <p:spPr>
          <a:xfrm>
            <a:off x="9372600" y="2194560"/>
            <a:ext cx="2103120" cy="338328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Залежності спрямовані до домену</a:t>
            </a:r>
            <a:endParaRPr lang="en-US" sz="1400" dirty="0"/>
          </a:p>
          <a:p>
            <a:pPr marL="177800" indent="-177800">
              <a:spcAft>
                <a:spcPts val="1000"/>
              </a:spcAft>
              <a:buSzPct val="100000"/>
              <a:buChar char="•"/>
            </a:pPr>
            <a:r>
              <a:rPr lang="en-US" sz="1400" dirty="0">
                <a:solidFill>
                  <a:schemeClr val="tx1"/>
                </a:solidFill>
              </a:rPr>
              <a:t>Доступ до БД лише через інтерфейс</a:t>
            </a:r>
            <a:endParaRPr lang="en-US" sz="1400" dirty="0"/>
          </a:p>
          <a:p>
            <a:pPr marL="177800" indent="-177800">
              <a:spcAft>
                <a:spcPts val="1000"/>
              </a:spcAft>
              <a:buSzPct val="100000"/>
              <a:buChar char="•"/>
            </a:pPr>
            <a:r>
              <a:rPr lang="en-US" sz="1400" dirty="0">
                <a:solidFill>
                  <a:schemeClr val="tx1"/>
                </a:solidFill>
              </a:rPr>
              <a:t>Сервіси реєструються через DI</a:t>
            </a:r>
            <a:endParaRPr lang="en-US" sz="1400" dirty="0"/>
          </a:p>
          <a:p>
            <a:pPr marL="177800" indent="-177800">
              <a:spcAft>
                <a:spcPts val="1000"/>
              </a:spcAft>
              <a:buSzPct val="100000"/>
              <a:buChar char="•"/>
            </a:pPr>
            <a:r>
              <a:rPr lang="en-US" sz="1400" dirty="0">
                <a:solidFill>
                  <a:schemeClr val="tx1"/>
                </a:solidFill>
              </a:rPr>
              <a:t>Шари легко тестувати й замінювати</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Модель даних</a:t>
            </a:r>
            <a:endParaRPr lang="en-US" sz="3400" dirty="0"/>
          </a:p>
        </p:txBody>
      </p:sp>
      <p:sp>
        <p:nvSpPr>
          <p:cNvPr id="3" name="entity user"/>
          <p:cNvSpPr/>
          <p:nvPr/>
        </p:nvSpPr>
        <p:spPr>
          <a:xfrm>
            <a:off x="548640" y="1371600"/>
            <a:ext cx="2743200" cy="1645920"/>
          </a:xfrm>
          <a:prstGeom prst="roundRect">
            <a:avLst>
              <a:gd name="adj" fmla="val 4444"/>
            </a:avLst>
          </a:prstGeom>
          <a:solidFill>
            <a:schemeClr val="bg2"/>
          </a:solidFill>
          <a:ln w="12700">
            <a:solidFill>
              <a:schemeClr val="accent6"/>
            </a:solidFill>
            <a:prstDash val="solid"/>
          </a:ln>
        </p:spPr>
      </p:sp>
      <p:sp>
        <p:nvSpPr>
          <p:cNvPr id="4" name="entity user header"/>
          <p:cNvSpPr/>
          <p:nvPr/>
        </p:nvSpPr>
        <p:spPr>
          <a:xfrm>
            <a:off x="548640" y="1371600"/>
            <a:ext cx="2743200" cy="411480"/>
          </a:xfrm>
          <a:prstGeom prst="roundRect">
            <a:avLst>
              <a:gd name="adj" fmla="val 17778"/>
            </a:avLst>
          </a:prstGeom>
          <a:solidFill>
            <a:schemeClr val="tx1"/>
          </a:solidFill>
          <a:ln/>
        </p:spPr>
        <p:txBody>
          <a:bodyPr wrap="square" lIns="0" tIns="0" rIns="0" bIns="0" rtlCol="0" anchor="ctr"/>
          <a:lstStyle/>
          <a:p>
            <a:pPr algn="ctr" indent="0" marL="0">
              <a:buNone/>
            </a:pPr>
            <a:r>
              <a:rPr lang="en-US" sz="1500" b="1" dirty="0">
                <a:solidFill>
                  <a:schemeClr val="bg1"/>
                </a:solidFill>
              </a:rPr>
              <a:t>User</a:t>
            </a:r>
            <a:endParaRPr lang="en-US" sz="1500" dirty="0"/>
          </a:p>
        </p:txBody>
      </p:sp>
      <p:sp>
        <p:nvSpPr>
          <p:cNvPr id="5" name="Text 3"/>
          <p:cNvSpPr txBox="1"/>
          <p:nvPr/>
        </p:nvSpPr>
        <p:spPr>
          <a:xfrm>
            <a:off x="685800" y="1874520"/>
            <a:ext cx="2468880" cy="10972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Email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PasswordHash</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Role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IsEmailVerified</a:t>
            </a:r>
            <a:endParaRPr lang="en-US" sz="1200" dirty="0"/>
          </a:p>
        </p:txBody>
      </p:sp>
      <p:sp>
        <p:nvSpPr>
          <p:cNvPr id="6" name="entity restaurant"/>
          <p:cNvSpPr/>
          <p:nvPr/>
        </p:nvSpPr>
        <p:spPr>
          <a:xfrm>
            <a:off x="4709160" y="1371600"/>
            <a:ext cx="2743200" cy="1645920"/>
          </a:xfrm>
          <a:prstGeom prst="roundRect">
            <a:avLst>
              <a:gd name="adj" fmla="val 4444"/>
            </a:avLst>
          </a:prstGeom>
          <a:solidFill>
            <a:schemeClr val="bg2"/>
          </a:solidFill>
          <a:ln w="12700">
            <a:solidFill>
              <a:schemeClr val="accent6"/>
            </a:solidFill>
            <a:prstDash val="solid"/>
          </a:ln>
        </p:spPr>
      </p:sp>
      <p:sp>
        <p:nvSpPr>
          <p:cNvPr id="7" name="entity restaurant header"/>
          <p:cNvSpPr/>
          <p:nvPr/>
        </p:nvSpPr>
        <p:spPr>
          <a:xfrm>
            <a:off x="4709160" y="1371600"/>
            <a:ext cx="2743200" cy="411480"/>
          </a:xfrm>
          <a:prstGeom prst="roundRect">
            <a:avLst>
              <a:gd name="adj" fmla="val 17778"/>
            </a:avLst>
          </a:prstGeom>
          <a:solidFill>
            <a:schemeClr val="tx1"/>
          </a:solidFill>
          <a:ln/>
        </p:spPr>
        <p:txBody>
          <a:bodyPr wrap="square" lIns="0" tIns="0" rIns="0" bIns="0" rtlCol="0" anchor="ctr"/>
          <a:lstStyle/>
          <a:p>
            <a:pPr algn="ctr" indent="0" marL="0">
              <a:buNone/>
            </a:pPr>
            <a:r>
              <a:rPr lang="en-US" sz="1500" b="1" dirty="0">
                <a:solidFill>
                  <a:schemeClr val="bg1"/>
                </a:solidFill>
              </a:rPr>
              <a:t>Restaurant</a:t>
            </a:r>
            <a:endParaRPr lang="en-US" sz="1500" dirty="0"/>
          </a:p>
        </p:txBody>
      </p:sp>
      <p:sp>
        <p:nvSpPr>
          <p:cNvPr id="8" name="Text 6"/>
          <p:cNvSpPr txBox="1"/>
          <p:nvPr/>
        </p:nvSpPr>
        <p:spPr>
          <a:xfrm>
            <a:off x="4846320" y="1874520"/>
            <a:ext cx="2468880" cy="10972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Name, City, Type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HasKidsZone, HasWifi…</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OwnerId (FK)</a:t>
            </a:r>
            <a:endParaRPr lang="en-US" sz="1200" dirty="0"/>
          </a:p>
        </p:txBody>
      </p:sp>
      <p:sp>
        <p:nvSpPr>
          <p:cNvPr id="9" name="entity event"/>
          <p:cNvSpPr/>
          <p:nvPr/>
        </p:nvSpPr>
        <p:spPr>
          <a:xfrm>
            <a:off x="8869680" y="1371600"/>
            <a:ext cx="2743200" cy="1645920"/>
          </a:xfrm>
          <a:prstGeom prst="roundRect">
            <a:avLst>
              <a:gd name="adj" fmla="val 4444"/>
            </a:avLst>
          </a:prstGeom>
          <a:solidFill>
            <a:schemeClr val="bg2"/>
          </a:solidFill>
          <a:ln w="12700">
            <a:solidFill>
              <a:schemeClr val="accent6"/>
            </a:solidFill>
            <a:prstDash val="solid"/>
          </a:ln>
        </p:spPr>
      </p:sp>
      <p:sp>
        <p:nvSpPr>
          <p:cNvPr id="10" name="entity event header"/>
          <p:cNvSpPr/>
          <p:nvPr/>
        </p:nvSpPr>
        <p:spPr>
          <a:xfrm>
            <a:off x="8869680" y="1371600"/>
            <a:ext cx="2743200" cy="411480"/>
          </a:xfrm>
          <a:prstGeom prst="roundRect">
            <a:avLst>
              <a:gd name="adj" fmla="val 17778"/>
            </a:avLst>
          </a:prstGeom>
          <a:solidFill>
            <a:schemeClr val="tx1"/>
          </a:solidFill>
          <a:ln/>
        </p:spPr>
        <p:txBody>
          <a:bodyPr wrap="square" lIns="0" tIns="0" rIns="0" bIns="0" rtlCol="0" anchor="ctr"/>
          <a:lstStyle/>
          <a:p>
            <a:pPr algn="ctr" indent="0" marL="0">
              <a:buNone/>
            </a:pPr>
            <a:r>
              <a:rPr lang="en-US" sz="1500" b="1" dirty="0">
                <a:solidFill>
                  <a:schemeClr val="bg1"/>
                </a:solidFill>
              </a:rPr>
              <a:t>Event</a:t>
            </a:r>
            <a:endParaRPr lang="en-US" sz="1500" dirty="0"/>
          </a:p>
        </p:txBody>
      </p:sp>
      <p:sp>
        <p:nvSpPr>
          <p:cNvPr id="11" name="Text 9"/>
          <p:cNvSpPr txBox="1"/>
          <p:nvPr/>
        </p:nvSpPr>
        <p:spPr>
          <a:xfrm>
            <a:off x="9006840" y="1874520"/>
            <a:ext cx="2468880" cy="109728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Title, Date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Price</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RestaurantId (FK)</a:t>
            </a:r>
            <a:endParaRPr lang="en-US" sz="1200" dirty="0"/>
          </a:p>
        </p:txBody>
      </p:sp>
      <p:sp>
        <p:nvSpPr>
          <p:cNvPr id="12" name="entity review"/>
          <p:cNvSpPr/>
          <p:nvPr/>
        </p:nvSpPr>
        <p:spPr>
          <a:xfrm>
            <a:off x="2651760" y="3749040"/>
            <a:ext cx="2743200" cy="1691640"/>
          </a:xfrm>
          <a:prstGeom prst="roundRect">
            <a:avLst>
              <a:gd name="adj" fmla="val 4324"/>
            </a:avLst>
          </a:prstGeom>
          <a:solidFill>
            <a:schemeClr val="bg2"/>
          </a:solidFill>
          <a:ln w="12700">
            <a:solidFill>
              <a:schemeClr val="accent6"/>
            </a:solidFill>
            <a:prstDash val="solid"/>
          </a:ln>
        </p:spPr>
      </p:sp>
      <p:sp>
        <p:nvSpPr>
          <p:cNvPr id="13" name="entity review header"/>
          <p:cNvSpPr/>
          <p:nvPr/>
        </p:nvSpPr>
        <p:spPr>
          <a:xfrm>
            <a:off x="2651760" y="3749040"/>
            <a:ext cx="2743200" cy="411480"/>
          </a:xfrm>
          <a:prstGeom prst="roundRect">
            <a:avLst>
              <a:gd name="adj" fmla="val 17778"/>
            </a:avLst>
          </a:prstGeom>
          <a:solidFill>
            <a:schemeClr val="tx1"/>
          </a:solidFill>
          <a:ln/>
        </p:spPr>
        <p:txBody>
          <a:bodyPr wrap="square" lIns="0" tIns="0" rIns="0" bIns="0" rtlCol="0" anchor="ctr"/>
          <a:lstStyle/>
          <a:p>
            <a:pPr algn="ctr" indent="0" marL="0">
              <a:buNone/>
            </a:pPr>
            <a:r>
              <a:rPr lang="en-US" sz="1500" b="1" dirty="0">
                <a:solidFill>
                  <a:schemeClr val="bg1"/>
                </a:solidFill>
              </a:rPr>
              <a:t>Review</a:t>
            </a:r>
            <a:endParaRPr lang="en-US" sz="1500" dirty="0"/>
          </a:p>
        </p:txBody>
      </p:sp>
      <p:sp>
        <p:nvSpPr>
          <p:cNvPr id="14" name="Text 12"/>
          <p:cNvSpPr txBox="1"/>
          <p:nvPr/>
        </p:nvSpPr>
        <p:spPr>
          <a:xfrm>
            <a:off x="2788920" y="4251960"/>
            <a:ext cx="2468880" cy="11430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Rating (1–5)</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Comment</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UserId (FK)</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RestaurantId (FK)</a:t>
            </a:r>
            <a:endParaRPr lang="en-US" sz="1200" dirty="0"/>
          </a:p>
        </p:txBody>
      </p:sp>
      <p:sp>
        <p:nvSpPr>
          <p:cNvPr id="15" name="entity booking"/>
          <p:cNvSpPr/>
          <p:nvPr/>
        </p:nvSpPr>
        <p:spPr>
          <a:xfrm>
            <a:off x="6812280" y="3749040"/>
            <a:ext cx="2743200" cy="1691640"/>
          </a:xfrm>
          <a:prstGeom prst="roundRect">
            <a:avLst>
              <a:gd name="adj" fmla="val 4324"/>
            </a:avLst>
          </a:prstGeom>
          <a:solidFill>
            <a:schemeClr val="bg2"/>
          </a:solidFill>
          <a:ln w="12700">
            <a:solidFill>
              <a:schemeClr val="accent6"/>
            </a:solidFill>
            <a:prstDash val="solid"/>
          </a:ln>
        </p:spPr>
      </p:sp>
      <p:sp>
        <p:nvSpPr>
          <p:cNvPr id="16" name="entity booking header"/>
          <p:cNvSpPr/>
          <p:nvPr/>
        </p:nvSpPr>
        <p:spPr>
          <a:xfrm>
            <a:off x="6812280" y="3749040"/>
            <a:ext cx="2743200" cy="411480"/>
          </a:xfrm>
          <a:prstGeom prst="roundRect">
            <a:avLst>
              <a:gd name="adj" fmla="val 17778"/>
            </a:avLst>
          </a:prstGeom>
          <a:solidFill>
            <a:schemeClr val="tx1"/>
          </a:solidFill>
          <a:ln/>
        </p:spPr>
        <p:txBody>
          <a:bodyPr wrap="square" lIns="0" tIns="0" rIns="0" bIns="0" rtlCol="0" anchor="ctr"/>
          <a:lstStyle/>
          <a:p>
            <a:pPr algn="ctr" indent="0" marL="0">
              <a:buNone/>
            </a:pPr>
            <a:r>
              <a:rPr lang="en-US" sz="1500" b="1" dirty="0">
                <a:solidFill>
                  <a:schemeClr val="bg1"/>
                </a:solidFill>
              </a:rPr>
              <a:t>Booking</a:t>
            </a:r>
            <a:endParaRPr lang="en-US" sz="1500" dirty="0"/>
          </a:p>
        </p:txBody>
      </p:sp>
      <p:sp>
        <p:nvSpPr>
          <p:cNvPr id="17" name="Text 15"/>
          <p:cNvSpPr txBox="1"/>
          <p:nvPr/>
        </p:nvSpPr>
        <p:spPr>
          <a:xfrm>
            <a:off x="6949440" y="4251960"/>
            <a:ext cx="2468880" cy="11430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Id, BookingDate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NumberOfGuests, Status</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UserId (FK)</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RestaurantId (FK)</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EventId (FK, опц.)</a:t>
            </a:r>
            <a:endParaRPr lang="en-US" sz="1200" dirty="0"/>
          </a:p>
        </p:txBody>
      </p:sp>
      <p:sp>
        <p:nvSpPr>
          <p:cNvPr id="18" name="rel user-restaurant"/>
          <p:cNvSpPr/>
          <p:nvPr/>
        </p:nvSpPr>
        <p:spPr>
          <a:xfrm>
            <a:off x="3291840" y="2194560"/>
            <a:ext cx="1417320" cy="914"/>
          </a:xfrm>
          <a:prstGeom prst="line">
            <a:avLst/>
          </a:prstGeom>
          <a:noFill/>
          <a:ln w="15875">
            <a:solidFill>
              <a:schemeClr val="tx2"/>
            </a:solidFill>
            <a:prstDash val="solid"/>
          </a:ln>
        </p:spPr>
      </p:sp>
      <p:sp>
        <p:nvSpPr>
          <p:cNvPr id="19" name="lbl ur"/>
          <p:cNvSpPr txBox="1"/>
          <p:nvPr/>
        </p:nvSpPr>
        <p:spPr>
          <a:xfrm>
            <a:off x="3730752" y="1874520"/>
            <a:ext cx="548640" cy="274320"/>
          </a:xfrm>
          <a:prstGeom prst="rect">
            <a:avLst/>
          </a:prstGeom>
          <a:noFill/>
          <a:ln/>
        </p:spPr>
        <p:txBody>
          <a:bodyPr wrap="square" lIns="0" tIns="0" rIns="0" bIns="0" rtlCol="0" anchor="ctr"/>
          <a:lstStyle/>
          <a:p>
            <a:pPr algn="ctr" indent="0" marL="0">
              <a:buNone/>
            </a:pPr>
            <a:r>
              <a:rPr lang="en-US" sz="1100" b="1" dirty="0">
                <a:solidFill>
                  <a:schemeClr val="accent1"/>
                </a:solidFill>
              </a:rPr>
              <a:t>1:N</a:t>
            </a:r>
            <a:endParaRPr lang="en-US" sz="1100" dirty="0"/>
          </a:p>
        </p:txBody>
      </p:sp>
      <p:sp>
        <p:nvSpPr>
          <p:cNvPr id="20" name="rel restaurant-event"/>
          <p:cNvSpPr/>
          <p:nvPr/>
        </p:nvSpPr>
        <p:spPr>
          <a:xfrm>
            <a:off x="7452360" y="2194560"/>
            <a:ext cx="1417320" cy="914"/>
          </a:xfrm>
          <a:prstGeom prst="line">
            <a:avLst/>
          </a:prstGeom>
          <a:noFill/>
          <a:ln w="15875">
            <a:solidFill>
              <a:schemeClr val="tx2"/>
            </a:solidFill>
            <a:prstDash val="solid"/>
          </a:ln>
        </p:spPr>
      </p:sp>
      <p:sp>
        <p:nvSpPr>
          <p:cNvPr id="21" name="lbl re"/>
          <p:cNvSpPr txBox="1"/>
          <p:nvPr/>
        </p:nvSpPr>
        <p:spPr>
          <a:xfrm>
            <a:off x="7891272" y="1874520"/>
            <a:ext cx="548640" cy="274320"/>
          </a:xfrm>
          <a:prstGeom prst="rect">
            <a:avLst/>
          </a:prstGeom>
          <a:noFill/>
          <a:ln/>
        </p:spPr>
        <p:txBody>
          <a:bodyPr wrap="square" lIns="0" tIns="0" rIns="0" bIns="0" rtlCol="0" anchor="ctr"/>
          <a:lstStyle/>
          <a:p>
            <a:pPr algn="ctr" indent="0" marL="0">
              <a:buNone/>
            </a:pPr>
            <a:r>
              <a:rPr lang="en-US" sz="1100" b="1" dirty="0">
                <a:solidFill>
                  <a:schemeClr val="accent1"/>
                </a:solidFill>
              </a:rPr>
              <a:t>1:N</a:t>
            </a:r>
            <a:endParaRPr lang="en-US" sz="1100" dirty="0"/>
          </a:p>
        </p:txBody>
      </p:sp>
      <p:sp>
        <p:nvSpPr>
          <p:cNvPr id="22" name="rel user-review"/>
          <p:cNvSpPr/>
          <p:nvPr/>
        </p:nvSpPr>
        <p:spPr>
          <a:xfrm>
            <a:off x="2377440" y="3017520"/>
            <a:ext cx="914400" cy="731520"/>
          </a:xfrm>
          <a:prstGeom prst="line">
            <a:avLst/>
          </a:prstGeom>
          <a:noFill/>
          <a:ln w="15875">
            <a:solidFill>
              <a:schemeClr val="tx2"/>
            </a:solidFill>
            <a:prstDash val="solid"/>
          </a:ln>
        </p:spPr>
      </p:sp>
      <p:sp>
        <p:nvSpPr>
          <p:cNvPr id="23" name="lbl urv"/>
          <p:cNvSpPr txBox="1"/>
          <p:nvPr/>
        </p:nvSpPr>
        <p:spPr>
          <a:xfrm>
            <a:off x="2240280" y="3246120"/>
            <a:ext cx="548640" cy="274320"/>
          </a:xfrm>
          <a:prstGeom prst="rect">
            <a:avLst/>
          </a:prstGeom>
          <a:noFill/>
          <a:ln/>
        </p:spPr>
        <p:txBody>
          <a:bodyPr wrap="square" lIns="0" tIns="0" rIns="0" bIns="0" rtlCol="0" anchor="ctr"/>
          <a:lstStyle/>
          <a:p>
            <a:pPr algn="ctr" indent="0" marL="0">
              <a:buNone/>
            </a:pPr>
            <a:r>
              <a:rPr lang="en-US" sz="1100" b="1" dirty="0">
                <a:solidFill>
                  <a:schemeClr val="accent1"/>
                </a:solidFill>
              </a:rPr>
              <a:t>1:N</a:t>
            </a:r>
            <a:endParaRPr lang="en-US" sz="1100" dirty="0"/>
          </a:p>
        </p:txBody>
      </p:sp>
      <p:sp>
        <p:nvSpPr>
          <p:cNvPr id="24" name="rel restaurant-review"/>
          <p:cNvSpPr/>
          <p:nvPr/>
        </p:nvSpPr>
        <p:spPr>
          <a:xfrm flipH="1">
            <a:off x="4754880" y="3017520"/>
            <a:ext cx="457200" cy="731520"/>
          </a:xfrm>
          <a:prstGeom prst="line">
            <a:avLst/>
          </a:prstGeom>
          <a:noFill/>
          <a:ln w="15875">
            <a:solidFill>
              <a:schemeClr val="tx2"/>
            </a:solidFill>
            <a:prstDash val="solid"/>
          </a:ln>
        </p:spPr>
      </p:sp>
      <p:sp>
        <p:nvSpPr>
          <p:cNvPr id="25" name="lbl rrv"/>
          <p:cNvSpPr txBox="1"/>
          <p:nvPr/>
        </p:nvSpPr>
        <p:spPr>
          <a:xfrm>
            <a:off x="5029200" y="3246120"/>
            <a:ext cx="548640" cy="274320"/>
          </a:xfrm>
          <a:prstGeom prst="rect">
            <a:avLst/>
          </a:prstGeom>
          <a:noFill/>
          <a:ln/>
        </p:spPr>
        <p:txBody>
          <a:bodyPr wrap="square" lIns="0" tIns="0" rIns="0" bIns="0" rtlCol="0" anchor="ctr"/>
          <a:lstStyle/>
          <a:p>
            <a:pPr algn="ctr" indent="0" marL="0">
              <a:buNone/>
            </a:pPr>
            <a:r>
              <a:rPr lang="en-US" sz="1100" b="1" dirty="0">
                <a:solidFill>
                  <a:schemeClr val="accent1"/>
                </a:solidFill>
              </a:rPr>
              <a:t>1:N</a:t>
            </a:r>
            <a:endParaRPr lang="en-US" sz="1100" dirty="0"/>
          </a:p>
        </p:txBody>
      </p:sp>
      <p:sp>
        <p:nvSpPr>
          <p:cNvPr id="26" name="rel restaurant-booking"/>
          <p:cNvSpPr/>
          <p:nvPr/>
        </p:nvSpPr>
        <p:spPr>
          <a:xfrm>
            <a:off x="6949440" y="3017520"/>
            <a:ext cx="457200" cy="731520"/>
          </a:xfrm>
          <a:prstGeom prst="line">
            <a:avLst/>
          </a:prstGeom>
          <a:noFill/>
          <a:ln w="15875">
            <a:solidFill>
              <a:schemeClr val="tx2"/>
            </a:solidFill>
            <a:prstDash val="solid"/>
          </a:ln>
        </p:spPr>
      </p:sp>
      <p:sp>
        <p:nvSpPr>
          <p:cNvPr id="27" name="lbl rb"/>
          <p:cNvSpPr txBox="1"/>
          <p:nvPr/>
        </p:nvSpPr>
        <p:spPr>
          <a:xfrm>
            <a:off x="6629400" y="3246120"/>
            <a:ext cx="548640" cy="274320"/>
          </a:xfrm>
          <a:prstGeom prst="rect">
            <a:avLst/>
          </a:prstGeom>
          <a:noFill/>
          <a:ln/>
        </p:spPr>
        <p:txBody>
          <a:bodyPr wrap="square" lIns="0" tIns="0" rIns="0" bIns="0" rtlCol="0" anchor="ctr"/>
          <a:lstStyle/>
          <a:p>
            <a:pPr algn="ctr" indent="0" marL="0">
              <a:buNone/>
            </a:pPr>
            <a:r>
              <a:rPr lang="en-US" sz="1100" b="1" dirty="0">
                <a:solidFill>
                  <a:schemeClr val="accent1"/>
                </a:solidFill>
              </a:rPr>
              <a:t>1:N</a:t>
            </a:r>
            <a:endParaRPr lang="en-US" sz="1100" dirty="0"/>
          </a:p>
        </p:txBody>
      </p:sp>
      <p:sp>
        <p:nvSpPr>
          <p:cNvPr id="28" name="rel event-booking"/>
          <p:cNvSpPr/>
          <p:nvPr/>
        </p:nvSpPr>
        <p:spPr>
          <a:xfrm flipH="1">
            <a:off x="9052560" y="3017520"/>
            <a:ext cx="640080" cy="731520"/>
          </a:xfrm>
          <a:prstGeom prst="line">
            <a:avLst/>
          </a:prstGeom>
          <a:noFill/>
          <a:ln w="15875">
            <a:solidFill>
              <a:schemeClr val="tx2"/>
            </a:solidFill>
            <a:prstDash val="solid"/>
          </a:ln>
        </p:spPr>
      </p:sp>
      <p:sp>
        <p:nvSpPr>
          <p:cNvPr id="29" name="lbl eb"/>
          <p:cNvSpPr txBox="1"/>
          <p:nvPr/>
        </p:nvSpPr>
        <p:spPr>
          <a:xfrm>
            <a:off x="9464040" y="3246120"/>
            <a:ext cx="548640" cy="274320"/>
          </a:xfrm>
          <a:prstGeom prst="rect">
            <a:avLst/>
          </a:prstGeom>
          <a:noFill/>
          <a:ln/>
        </p:spPr>
        <p:txBody>
          <a:bodyPr wrap="square" lIns="0" tIns="0" rIns="0" bIns="0" rtlCol="0" anchor="ctr"/>
          <a:lstStyle/>
          <a:p>
            <a:pPr algn="ctr" indent="0" marL="0">
              <a:buNone/>
            </a:pPr>
            <a:r>
              <a:rPr lang="en-US" sz="1100" b="1" dirty="0">
                <a:solidFill>
                  <a:schemeClr val="accent1"/>
                </a:solidFill>
              </a:rPr>
              <a:t>1:N</a:t>
            </a:r>
            <a:endParaRPr lang="en-US" sz="1100" dirty="0"/>
          </a:p>
        </p:txBody>
      </p:sp>
      <p:sp>
        <p:nvSpPr>
          <p:cNvPr id="30" name="rel user-booking a"/>
          <p:cNvSpPr/>
          <p:nvPr/>
        </p:nvSpPr>
        <p:spPr>
          <a:xfrm>
            <a:off x="1280160" y="3017520"/>
            <a:ext cx="914" cy="2743200"/>
          </a:xfrm>
          <a:prstGeom prst="line">
            <a:avLst/>
          </a:prstGeom>
          <a:noFill/>
          <a:ln w="15875">
            <a:solidFill>
              <a:schemeClr val="tx2"/>
            </a:solidFill>
            <a:prstDash val="solid"/>
          </a:ln>
        </p:spPr>
      </p:sp>
      <p:sp>
        <p:nvSpPr>
          <p:cNvPr id="31" name="rel user-booking b"/>
          <p:cNvSpPr/>
          <p:nvPr/>
        </p:nvSpPr>
        <p:spPr>
          <a:xfrm>
            <a:off x="1280160" y="5760720"/>
            <a:ext cx="6903720" cy="914"/>
          </a:xfrm>
          <a:prstGeom prst="line">
            <a:avLst/>
          </a:prstGeom>
          <a:noFill/>
          <a:ln w="15875">
            <a:solidFill>
              <a:schemeClr val="tx2"/>
            </a:solidFill>
            <a:prstDash val="solid"/>
          </a:ln>
        </p:spPr>
      </p:sp>
      <p:sp>
        <p:nvSpPr>
          <p:cNvPr id="32" name="rel user-booking c"/>
          <p:cNvSpPr/>
          <p:nvPr/>
        </p:nvSpPr>
        <p:spPr>
          <a:xfrm>
            <a:off x="8183880" y="5440680"/>
            <a:ext cx="914" cy="320040"/>
          </a:xfrm>
          <a:prstGeom prst="line">
            <a:avLst/>
          </a:prstGeom>
          <a:noFill/>
          <a:ln w="15875">
            <a:solidFill>
              <a:schemeClr val="tx2"/>
            </a:solidFill>
            <a:prstDash val="solid"/>
          </a:ln>
        </p:spPr>
      </p:sp>
      <p:sp>
        <p:nvSpPr>
          <p:cNvPr id="33" name="lbl ub"/>
          <p:cNvSpPr txBox="1"/>
          <p:nvPr/>
        </p:nvSpPr>
        <p:spPr>
          <a:xfrm>
            <a:off x="1371600" y="5440680"/>
            <a:ext cx="548640" cy="274320"/>
          </a:xfrm>
          <a:prstGeom prst="rect">
            <a:avLst/>
          </a:prstGeom>
          <a:noFill/>
          <a:ln/>
        </p:spPr>
        <p:txBody>
          <a:bodyPr wrap="square" lIns="0" tIns="0" rIns="0" bIns="0" rtlCol="0" anchor="ctr"/>
          <a:lstStyle/>
          <a:p>
            <a:pPr algn="ctr" indent="0" marL="0">
              <a:buNone/>
            </a:pPr>
            <a:r>
              <a:rPr lang="en-US" sz="1100" b="1" dirty="0">
                <a:solidFill>
                  <a:schemeClr val="accent1"/>
                </a:solidFill>
              </a:rPr>
              <a:t>1:N</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REST API: 14 ендпоінтів</a:t>
            </a:r>
            <a:endParaRPr lang="en-US" sz="3400" dirty="0"/>
          </a:p>
        </p:txBody>
      </p:sp>
      <p:sp>
        <p:nvSpPr>
          <p:cNvPr id="3" name="api card 1"/>
          <p:cNvSpPr/>
          <p:nvPr/>
        </p:nvSpPr>
        <p:spPr>
          <a:xfrm>
            <a:off x="548640" y="1371600"/>
            <a:ext cx="5394960" cy="2286000"/>
          </a:xfrm>
          <a:prstGeom prst="roundRect">
            <a:avLst>
              <a:gd name="adj" fmla="val 4800"/>
            </a:avLst>
          </a:prstGeom>
          <a:solidFill>
            <a:schemeClr val="bg2"/>
          </a:solidFill>
          <a:ln/>
        </p:spPr>
      </p:sp>
      <p:sp>
        <p:nvSpPr>
          <p:cNvPr id="4" name="api icon 1 circle"/>
          <p:cNvSpPr/>
          <p:nvPr/>
        </p:nvSpPr>
        <p:spPr>
          <a:xfrm>
            <a:off x="822960" y="1600200"/>
            <a:ext cx="548640" cy="548640"/>
          </a:xfrm>
          <a:prstGeom prst="ellipse">
            <a:avLst/>
          </a:prstGeom>
          <a:solidFill>
            <a:schemeClr val="accent1"/>
          </a:solidFill>
          <a:ln/>
        </p:spPr>
      </p:sp>
      <p:pic>
        <p:nvPicPr>
          <p:cNvPr id="5" name="api icon 1 glyph" descr="preencoded.png">    </p:cNvPr>
          <p:cNvPicPr>
            <a:picLocks noChangeAspect="1"/>
          </p:cNvPicPr>
          <p:nvPr/>
        </p:nvPicPr>
        <p:blipFill>
          <a:blip r:embed="rId1"/>
          <a:stretch>
            <a:fillRect/>
          </a:stretch>
        </p:blipFill>
        <p:spPr>
          <a:xfrm>
            <a:off x="960120" y="1737360"/>
            <a:ext cx="274320" cy="274320"/>
          </a:xfrm>
          <a:prstGeom prst="rect">
            <a:avLst/>
          </a:prstGeom>
        </p:spPr>
      </p:pic>
      <p:sp>
        <p:nvSpPr>
          <p:cNvPr id="6" name="Text 3"/>
          <p:cNvSpPr txBox="1"/>
          <p:nvPr/>
        </p:nvSpPr>
        <p:spPr>
          <a:xfrm>
            <a:off x="1508760" y="1600200"/>
            <a:ext cx="4114800" cy="548640"/>
          </a:xfrm>
          <a:prstGeom prst="rect">
            <a:avLst/>
          </a:prstGeom>
          <a:noFill/>
          <a:ln/>
        </p:spPr>
        <p:txBody>
          <a:bodyPr wrap="square" lIns="0" tIns="0" rIns="0" bIns="0" rtlCol="0" anchor="ctr"/>
          <a:lstStyle/>
          <a:p>
            <a:pPr indent="0" marL="0">
              <a:buNone/>
            </a:pPr>
            <a:r>
              <a:rPr lang="en-US" sz="1800" b="1" dirty="0">
                <a:solidFill>
                  <a:schemeClr val="tx1"/>
                </a:solidFill>
                <a:latin typeface="Courier New" pitchFamily="34" charset="0"/>
                <a:ea typeface="Courier New" pitchFamily="34" charset="-122"/>
                <a:cs typeface="Courier New" pitchFamily="34" charset="-120"/>
              </a:rPr>
              <a:t>/api/Auth</a:t>
            </a:r>
            <a:endParaRPr lang="en-US" sz="1800" dirty="0"/>
          </a:p>
        </p:txBody>
      </p:sp>
      <p:sp>
        <p:nvSpPr>
          <p:cNvPr id="7" name="Text 4"/>
          <p:cNvSpPr txBox="1"/>
          <p:nvPr/>
        </p:nvSpPr>
        <p:spPr>
          <a:xfrm>
            <a:off x="822960" y="2286000"/>
            <a:ext cx="4937760" cy="128016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POST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/register</a:t>
            </a:r>
            <a:pPr indent="0" marL="0">
              <a:spcAft>
                <a:spcPts val="300"/>
              </a:spcAft>
              <a:buNone/>
            </a:pPr>
            <a:r>
              <a:rPr lang="en-US" sz="1400" dirty="0">
                <a:solidFill>
                  <a:schemeClr val="tx2"/>
                </a:solidFill>
              </a:rPr>
              <a:t>  — реєстрація</a:t>
            </a:r>
            <a:endParaRPr lang="en-US" sz="1400" dirty="0"/>
          </a:p>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POST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/login</a:t>
            </a:r>
            <a:pPr indent="0" marL="0">
              <a:spcAft>
                <a:spcPts val="300"/>
              </a:spcAft>
              <a:buNone/>
            </a:pPr>
            <a:r>
              <a:rPr lang="en-US" sz="1400" dirty="0">
                <a:solidFill>
                  <a:schemeClr val="tx2"/>
                </a:solidFill>
              </a:rPr>
              <a:t>  — вхід, видача JWT</a:t>
            </a:r>
            <a:endParaRPr lang="en-US" sz="1400" dirty="0"/>
          </a:p>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POST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/verify-email</a:t>
            </a:r>
            <a:pPr indent="0" marL="0">
              <a:spcAft>
                <a:spcPts val="300"/>
              </a:spcAft>
              <a:buNone/>
            </a:pPr>
            <a:r>
              <a:rPr lang="en-US" sz="1400" dirty="0">
                <a:solidFill>
                  <a:schemeClr val="tx2"/>
                </a:solidFill>
              </a:rPr>
              <a:t>  — підтвердження коду</a:t>
            </a:r>
            <a:endParaRPr lang="en-US" sz="1400" dirty="0"/>
          </a:p>
        </p:txBody>
      </p:sp>
      <p:sp>
        <p:nvSpPr>
          <p:cNvPr id="8" name="api card 2"/>
          <p:cNvSpPr/>
          <p:nvPr/>
        </p:nvSpPr>
        <p:spPr>
          <a:xfrm>
            <a:off x="6217920" y="1371600"/>
            <a:ext cx="5394960" cy="2286000"/>
          </a:xfrm>
          <a:prstGeom prst="roundRect">
            <a:avLst>
              <a:gd name="adj" fmla="val 4800"/>
            </a:avLst>
          </a:prstGeom>
          <a:solidFill>
            <a:schemeClr val="bg2"/>
          </a:solidFill>
          <a:ln/>
        </p:spPr>
      </p:sp>
      <p:sp>
        <p:nvSpPr>
          <p:cNvPr id="9" name="api icon 2 circle"/>
          <p:cNvSpPr/>
          <p:nvPr/>
        </p:nvSpPr>
        <p:spPr>
          <a:xfrm>
            <a:off x="6492240" y="1600200"/>
            <a:ext cx="548640" cy="548640"/>
          </a:xfrm>
          <a:prstGeom prst="ellipse">
            <a:avLst/>
          </a:prstGeom>
          <a:solidFill>
            <a:schemeClr val="accent1"/>
          </a:solidFill>
          <a:ln/>
        </p:spPr>
      </p:sp>
      <p:pic>
        <p:nvPicPr>
          <p:cNvPr id="10" name="api icon 2 glyph" descr="preencoded.png">    </p:cNvPr>
          <p:cNvPicPr>
            <a:picLocks noChangeAspect="1"/>
          </p:cNvPicPr>
          <p:nvPr/>
        </p:nvPicPr>
        <p:blipFill>
          <a:blip r:embed="rId2"/>
          <a:stretch>
            <a:fillRect/>
          </a:stretch>
        </p:blipFill>
        <p:spPr>
          <a:xfrm>
            <a:off x="6629400" y="1737360"/>
            <a:ext cx="274320" cy="274320"/>
          </a:xfrm>
          <a:prstGeom prst="rect">
            <a:avLst/>
          </a:prstGeom>
        </p:spPr>
      </p:pic>
      <p:sp>
        <p:nvSpPr>
          <p:cNvPr id="11" name="Text 7"/>
          <p:cNvSpPr txBox="1"/>
          <p:nvPr/>
        </p:nvSpPr>
        <p:spPr>
          <a:xfrm>
            <a:off x="7178040" y="1600200"/>
            <a:ext cx="4114800" cy="548640"/>
          </a:xfrm>
          <a:prstGeom prst="rect">
            <a:avLst/>
          </a:prstGeom>
          <a:noFill/>
          <a:ln/>
        </p:spPr>
        <p:txBody>
          <a:bodyPr wrap="square" lIns="0" tIns="0" rIns="0" bIns="0" rtlCol="0" anchor="ctr"/>
          <a:lstStyle/>
          <a:p>
            <a:pPr indent="0" marL="0">
              <a:buNone/>
            </a:pPr>
            <a:r>
              <a:rPr lang="en-US" sz="1800" b="1" dirty="0">
                <a:solidFill>
                  <a:schemeClr val="tx1"/>
                </a:solidFill>
                <a:latin typeface="Courier New" pitchFamily="34" charset="0"/>
                <a:ea typeface="Courier New" pitchFamily="34" charset="-122"/>
                <a:cs typeface="Courier New" pitchFamily="34" charset="-120"/>
              </a:rPr>
              <a:t>/api/Restaurant</a:t>
            </a:r>
            <a:endParaRPr lang="en-US" sz="1800" dirty="0"/>
          </a:p>
        </p:txBody>
      </p:sp>
      <p:sp>
        <p:nvSpPr>
          <p:cNvPr id="12" name="Text 8"/>
          <p:cNvSpPr txBox="1"/>
          <p:nvPr/>
        </p:nvSpPr>
        <p:spPr>
          <a:xfrm>
            <a:off x="6492240" y="2286000"/>
            <a:ext cx="4937760" cy="1280160"/>
          </a:xfrm>
          <a:prstGeom prst="rect">
            <a:avLst/>
          </a:prstGeom>
          <a:noFill/>
          <a:ln/>
        </p:spPr>
        <p:txBody>
          <a:bodyPr wrap="square" lIns="0" tIns="0" rIns="0" bIns="0" rtlCol="0" anchor="t"/>
          <a:lstStyle/>
          <a:p>
            <a:pPr indent="0" marL="0">
              <a:spcAft>
                <a:spcPts val="300"/>
              </a:spcAft>
              <a:buNone/>
            </a:pPr>
            <a:r>
              <a:rPr lang="en-US" sz="1400" b="1" dirty="0">
                <a:solidFill>
                  <a:schemeClr val="accent3"/>
                </a:solidFill>
                <a:latin typeface="Courier New" pitchFamily="34" charset="0"/>
                <a:ea typeface="Courier New" pitchFamily="34" charset="-122"/>
                <a:cs typeface="Courier New" pitchFamily="34" charset="-120"/>
              </a:rPr>
              <a:t>GET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a:t>
            </a:r>
            <a:pPr indent="0" marL="0">
              <a:spcAft>
                <a:spcPts val="300"/>
              </a:spcAft>
              <a:buNone/>
            </a:pPr>
            <a:r>
              <a:rPr lang="en-US" sz="1400" dirty="0">
                <a:solidFill>
                  <a:schemeClr val="tx2"/>
                </a:solidFill>
              </a:rPr>
              <a:t>  — каталог із фільтрами</a:t>
            </a:r>
            <a:endParaRPr lang="en-US" sz="1400" dirty="0"/>
          </a:p>
          <a:p>
            <a:pPr indent="0" marL="0">
              <a:spcAft>
                <a:spcPts val="300"/>
              </a:spcAft>
              <a:buNone/>
            </a:pPr>
            <a:r>
              <a:rPr lang="en-US" sz="1400" b="1" dirty="0">
                <a:solidFill>
                  <a:schemeClr val="accent3"/>
                </a:solidFill>
                <a:latin typeface="Courier New" pitchFamily="34" charset="0"/>
                <a:ea typeface="Courier New" pitchFamily="34" charset="-122"/>
                <a:cs typeface="Courier New" pitchFamily="34" charset="-120"/>
              </a:rPr>
              <a:t>GET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/{id}</a:t>
            </a:r>
            <a:pPr indent="0" marL="0">
              <a:spcAft>
                <a:spcPts val="300"/>
              </a:spcAft>
              <a:buNone/>
            </a:pPr>
            <a:r>
              <a:rPr lang="en-US" sz="1400" dirty="0">
                <a:solidFill>
                  <a:schemeClr val="tx2"/>
                </a:solidFill>
              </a:rPr>
              <a:t>  — сторінка закладу</a:t>
            </a:r>
            <a:endParaRPr lang="en-US" sz="1400" dirty="0"/>
          </a:p>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POST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/create</a:t>
            </a:r>
            <a:pPr indent="0" marL="0">
              <a:spcAft>
                <a:spcPts val="300"/>
              </a:spcAft>
              <a:buNone/>
            </a:pPr>
            <a:r>
              <a:rPr lang="en-US" sz="1400" dirty="0">
                <a:solidFill>
                  <a:schemeClr val="tx2"/>
                </a:solidFill>
              </a:rPr>
              <a:t>  — новий заклад · власник</a:t>
            </a:r>
            <a:endParaRPr lang="en-US" sz="1400" dirty="0"/>
          </a:p>
          <a:p>
            <a:pPr indent="0" marL="0">
              <a:spcAft>
                <a:spcPts val="300"/>
              </a:spcAft>
              <a:buNone/>
            </a:pPr>
            <a:r>
              <a:rPr lang="en-US" sz="1400" b="1" dirty="0">
                <a:solidFill>
                  <a:schemeClr val="accent3"/>
                </a:solidFill>
                <a:latin typeface="Courier New" pitchFamily="34" charset="0"/>
                <a:ea typeface="Courier New" pitchFamily="34" charset="-122"/>
                <a:cs typeface="Courier New" pitchFamily="34" charset="-120"/>
              </a:rPr>
              <a:t>GET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/my-restaurant</a:t>
            </a:r>
            <a:pPr indent="0" marL="0">
              <a:spcAft>
                <a:spcPts val="300"/>
              </a:spcAft>
              <a:buNone/>
            </a:pPr>
            <a:r>
              <a:rPr lang="en-US" sz="1400" dirty="0">
                <a:solidFill>
                  <a:schemeClr val="tx2"/>
                </a:solidFill>
              </a:rPr>
              <a:t>  — заклад власника · власник</a:t>
            </a:r>
            <a:endParaRPr lang="en-US" sz="1400" dirty="0"/>
          </a:p>
        </p:txBody>
      </p:sp>
      <p:sp>
        <p:nvSpPr>
          <p:cNvPr id="13" name="api card 3"/>
          <p:cNvSpPr/>
          <p:nvPr/>
        </p:nvSpPr>
        <p:spPr>
          <a:xfrm>
            <a:off x="548640" y="3886200"/>
            <a:ext cx="5394960" cy="2286000"/>
          </a:xfrm>
          <a:prstGeom prst="roundRect">
            <a:avLst>
              <a:gd name="adj" fmla="val 4800"/>
            </a:avLst>
          </a:prstGeom>
          <a:solidFill>
            <a:schemeClr val="bg2"/>
          </a:solidFill>
          <a:ln/>
        </p:spPr>
      </p:sp>
      <p:sp>
        <p:nvSpPr>
          <p:cNvPr id="14" name="api icon 3 circle"/>
          <p:cNvSpPr/>
          <p:nvPr/>
        </p:nvSpPr>
        <p:spPr>
          <a:xfrm>
            <a:off x="822960" y="4114800"/>
            <a:ext cx="548640" cy="548640"/>
          </a:xfrm>
          <a:prstGeom prst="ellipse">
            <a:avLst/>
          </a:prstGeom>
          <a:solidFill>
            <a:schemeClr val="accent1"/>
          </a:solidFill>
          <a:ln/>
        </p:spPr>
      </p:sp>
      <p:pic>
        <p:nvPicPr>
          <p:cNvPr id="15" name="api icon 3 glyph" descr="preencoded.png">    </p:cNvPr>
          <p:cNvPicPr>
            <a:picLocks noChangeAspect="1"/>
          </p:cNvPicPr>
          <p:nvPr/>
        </p:nvPicPr>
        <p:blipFill>
          <a:blip r:embed="rId3"/>
          <a:stretch>
            <a:fillRect/>
          </a:stretch>
        </p:blipFill>
        <p:spPr>
          <a:xfrm>
            <a:off x="960120" y="4251960"/>
            <a:ext cx="274320" cy="274320"/>
          </a:xfrm>
          <a:prstGeom prst="rect">
            <a:avLst/>
          </a:prstGeom>
        </p:spPr>
      </p:pic>
      <p:sp>
        <p:nvSpPr>
          <p:cNvPr id="16" name="Text 11"/>
          <p:cNvSpPr txBox="1"/>
          <p:nvPr/>
        </p:nvSpPr>
        <p:spPr>
          <a:xfrm>
            <a:off x="1508760" y="4114800"/>
            <a:ext cx="4114800" cy="548640"/>
          </a:xfrm>
          <a:prstGeom prst="rect">
            <a:avLst/>
          </a:prstGeom>
          <a:noFill/>
          <a:ln/>
        </p:spPr>
        <p:txBody>
          <a:bodyPr wrap="square" lIns="0" tIns="0" rIns="0" bIns="0" rtlCol="0" anchor="ctr"/>
          <a:lstStyle/>
          <a:p>
            <a:pPr indent="0" marL="0">
              <a:buNone/>
            </a:pPr>
            <a:r>
              <a:rPr lang="en-US" sz="1800" b="1" dirty="0">
                <a:solidFill>
                  <a:schemeClr val="tx1"/>
                </a:solidFill>
                <a:latin typeface="Courier New" pitchFamily="34" charset="0"/>
                <a:ea typeface="Courier New" pitchFamily="34" charset="-122"/>
                <a:cs typeface="Courier New" pitchFamily="34" charset="-120"/>
              </a:rPr>
              <a:t>/api/Booking</a:t>
            </a:r>
            <a:endParaRPr lang="en-US" sz="1800" dirty="0"/>
          </a:p>
        </p:txBody>
      </p:sp>
      <p:sp>
        <p:nvSpPr>
          <p:cNvPr id="17" name="Text 12"/>
          <p:cNvSpPr txBox="1"/>
          <p:nvPr/>
        </p:nvSpPr>
        <p:spPr>
          <a:xfrm>
            <a:off x="822960" y="4800600"/>
            <a:ext cx="4937760" cy="128016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POST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/create</a:t>
            </a:r>
            <a:pPr indent="0" marL="0">
              <a:spcAft>
                <a:spcPts val="300"/>
              </a:spcAft>
              <a:buNone/>
            </a:pPr>
            <a:r>
              <a:rPr lang="en-US" sz="1400" dirty="0">
                <a:solidFill>
                  <a:schemeClr val="tx2"/>
                </a:solidFill>
              </a:rPr>
              <a:t>  — нове бронювання</a:t>
            </a:r>
            <a:endParaRPr lang="en-US" sz="1400" dirty="0"/>
          </a:p>
          <a:p>
            <a:pPr indent="0" marL="0">
              <a:spcAft>
                <a:spcPts val="300"/>
              </a:spcAft>
              <a:buNone/>
            </a:pPr>
            <a:r>
              <a:rPr lang="en-US" sz="1400" b="1" dirty="0">
                <a:solidFill>
                  <a:schemeClr val="accent3"/>
                </a:solidFill>
                <a:latin typeface="Courier New" pitchFamily="34" charset="0"/>
                <a:ea typeface="Courier New" pitchFamily="34" charset="-122"/>
                <a:cs typeface="Courier New" pitchFamily="34" charset="-120"/>
              </a:rPr>
              <a:t>GET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/my-bookings</a:t>
            </a:r>
            <a:pPr indent="0" marL="0">
              <a:spcAft>
                <a:spcPts val="300"/>
              </a:spcAft>
              <a:buNone/>
            </a:pPr>
            <a:r>
              <a:rPr lang="en-US" sz="1400" dirty="0">
                <a:solidFill>
                  <a:schemeClr val="tx2"/>
                </a:solidFill>
              </a:rPr>
              <a:t>  — мої бронювання</a:t>
            </a:r>
            <a:endParaRPr lang="en-US" sz="1400" dirty="0"/>
          </a:p>
          <a:p>
            <a:pPr indent="0" marL="0">
              <a:spcAft>
                <a:spcPts val="300"/>
              </a:spcAft>
              <a:buNone/>
            </a:pPr>
            <a:r>
              <a:rPr lang="en-US" sz="1400" b="1" dirty="0">
                <a:solidFill>
                  <a:schemeClr val="accent3"/>
                </a:solidFill>
                <a:latin typeface="Courier New" pitchFamily="34" charset="0"/>
                <a:ea typeface="Courier New" pitchFamily="34" charset="-122"/>
                <a:cs typeface="Courier New" pitchFamily="34" charset="-120"/>
              </a:rPr>
              <a:t>GET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/restaurant/{id}</a:t>
            </a:r>
            <a:pPr indent="0" marL="0">
              <a:spcAft>
                <a:spcPts val="300"/>
              </a:spcAft>
              <a:buNone/>
            </a:pPr>
            <a:r>
              <a:rPr lang="en-US" sz="1400" dirty="0">
                <a:solidFill>
                  <a:schemeClr val="tx2"/>
                </a:solidFill>
              </a:rPr>
              <a:t>  — броні закладу · власник</a:t>
            </a:r>
            <a:endParaRPr lang="en-US" sz="1400" dirty="0"/>
          </a:p>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POST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/cancel/{id}</a:t>
            </a:r>
            <a:pPr indent="0" marL="0">
              <a:spcAft>
                <a:spcPts val="300"/>
              </a:spcAft>
              <a:buNone/>
            </a:pPr>
            <a:r>
              <a:rPr lang="en-US" sz="1400" dirty="0">
                <a:solidFill>
                  <a:schemeClr val="tx2"/>
                </a:solidFill>
              </a:rPr>
              <a:t>  — скасування</a:t>
            </a:r>
            <a:endParaRPr lang="en-US" sz="1400" dirty="0"/>
          </a:p>
        </p:txBody>
      </p:sp>
      <p:sp>
        <p:nvSpPr>
          <p:cNvPr id="18" name="api card 4"/>
          <p:cNvSpPr/>
          <p:nvPr/>
        </p:nvSpPr>
        <p:spPr>
          <a:xfrm>
            <a:off x="6217920" y="3886200"/>
            <a:ext cx="5394960" cy="2286000"/>
          </a:xfrm>
          <a:prstGeom prst="roundRect">
            <a:avLst>
              <a:gd name="adj" fmla="val 4800"/>
            </a:avLst>
          </a:prstGeom>
          <a:solidFill>
            <a:schemeClr val="bg2"/>
          </a:solidFill>
          <a:ln/>
        </p:spPr>
      </p:sp>
      <p:sp>
        <p:nvSpPr>
          <p:cNvPr id="19" name="api icon 4 circle"/>
          <p:cNvSpPr/>
          <p:nvPr/>
        </p:nvSpPr>
        <p:spPr>
          <a:xfrm>
            <a:off x="6492240" y="4114800"/>
            <a:ext cx="548640" cy="548640"/>
          </a:xfrm>
          <a:prstGeom prst="ellipse">
            <a:avLst/>
          </a:prstGeom>
          <a:solidFill>
            <a:schemeClr val="accent1"/>
          </a:solidFill>
          <a:ln/>
        </p:spPr>
      </p:sp>
      <p:pic>
        <p:nvPicPr>
          <p:cNvPr id="20" name="api icon 4 glyph" descr="preencoded.png">    </p:cNvPr>
          <p:cNvPicPr>
            <a:picLocks noChangeAspect="1"/>
          </p:cNvPicPr>
          <p:nvPr/>
        </p:nvPicPr>
        <p:blipFill>
          <a:blip r:embed="rId4"/>
          <a:stretch>
            <a:fillRect/>
          </a:stretch>
        </p:blipFill>
        <p:spPr>
          <a:xfrm>
            <a:off x="6629400" y="4251960"/>
            <a:ext cx="274320" cy="274320"/>
          </a:xfrm>
          <a:prstGeom prst="rect">
            <a:avLst/>
          </a:prstGeom>
        </p:spPr>
      </p:pic>
      <p:sp>
        <p:nvSpPr>
          <p:cNvPr id="21" name="Text 15"/>
          <p:cNvSpPr txBox="1"/>
          <p:nvPr/>
        </p:nvSpPr>
        <p:spPr>
          <a:xfrm>
            <a:off x="7178040" y="4114800"/>
            <a:ext cx="4114800" cy="548640"/>
          </a:xfrm>
          <a:prstGeom prst="rect">
            <a:avLst/>
          </a:prstGeom>
          <a:noFill/>
          <a:ln/>
        </p:spPr>
        <p:txBody>
          <a:bodyPr wrap="square" lIns="0" tIns="0" rIns="0" bIns="0" rtlCol="0" anchor="ctr"/>
          <a:lstStyle/>
          <a:p>
            <a:pPr indent="0" marL="0">
              <a:buNone/>
            </a:pPr>
            <a:r>
              <a:rPr lang="en-US" sz="1800" b="1" dirty="0">
                <a:solidFill>
                  <a:schemeClr val="tx1"/>
                </a:solidFill>
                <a:latin typeface="Courier New" pitchFamily="34" charset="0"/>
                <a:ea typeface="Courier New" pitchFamily="34" charset="-122"/>
                <a:cs typeface="Courier New" pitchFamily="34" charset="-120"/>
              </a:rPr>
              <a:t>/api/Review</a:t>
            </a:r>
            <a:endParaRPr lang="en-US" sz="1800" dirty="0"/>
          </a:p>
        </p:txBody>
      </p:sp>
      <p:sp>
        <p:nvSpPr>
          <p:cNvPr id="22" name="Text 16"/>
          <p:cNvSpPr txBox="1"/>
          <p:nvPr/>
        </p:nvSpPr>
        <p:spPr>
          <a:xfrm>
            <a:off x="6492240" y="4800600"/>
            <a:ext cx="4937760" cy="128016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POST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/add</a:t>
            </a:r>
            <a:pPr indent="0" marL="0">
              <a:spcAft>
                <a:spcPts val="300"/>
              </a:spcAft>
              <a:buNone/>
            </a:pPr>
            <a:r>
              <a:rPr lang="en-US" sz="1400" dirty="0">
                <a:solidFill>
                  <a:schemeClr val="tx2"/>
                </a:solidFill>
              </a:rPr>
              <a:t>  — новий відгук · вхід</a:t>
            </a:r>
            <a:endParaRPr lang="en-US" sz="1400" dirty="0"/>
          </a:p>
          <a:p>
            <a:pPr indent="0" marL="0">
              <a:spcAft>
                <a:spcPts val="300"/>
              </a:spcAft>
              <a:buNone/>
            </a:pPr>
            <a:r>
              <a:rPr lang="en-US" sz="1400" b="1" dirty="0">
                <a:solidFill>
                  <a:schemeClr val="accent3"/>
                </a:solidFill>
                <a:latin typeface="Courier New" pitchFamily="34" charset="0"/>
                <a:ea typeface="Courier New" pitchFamily="34" charset="-122"/>
                <a:cs typeface="Courier New" pitchFamily="34" charset="-120"/>
              </a:rPr>
              <a:t>GET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/restaurant/{id}</a:t>
            </a:r>
            <a:pPr indent="0" marL="0">
              <a:spcAft>
                <a:spcPts val="300"/>
              </a:spcAft>
              <a:buNone/>
            </a:pPr>
            <a:r>
              <a:rPr lang="en-US" sz="1400" dirty="0">
                <a:solidFill>
                  <a:schemeClr val="tx2"/>
                </a:solidFill>
              </a:rPr>
              <a:t>  — відгуки закладу</a:t>
            </a:r>
            <a:endParaRPr lang="en-US" sz="1400" dirty="0"/>
          </a:p>
          <a:p>
            <a:pPr indent="0" marL="0">
              <a:spcAft>
                <a:spcPts val="300"/>
              </a:spcAft>
              <a:buNone/>
            </a:pPr>
            <a:r>
              <a:rPr lang="en-US" sz="1400" b="1" dirty="0">
                <a:solidFill>
                  <a:schemeClr val="accent3"/>
                </a:solidFill>
                <a:latin typeface="Courier New" pitchFamily="34" charset="0"/>
                <a:ea typeface="Courier New" pitchFamily="34" charset="-122"/>
                <a:cs typeface="Courier New" pitchFamily="34" charset="-120"/>
              </a:rPr>
              <a:t>GET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/my-reviews</a:t>
            </a:r>
            <a:pPr indent="0" marL="0">
              <a:spcAft>
                <a:spcPts val="300"/>
              </a:spcAft>
              <a:buNone/>
            </a:pPr>
            <a:r>
              <a:rPr lang="en-US" sz="1400" dirty="0">
                <a:solidFill>
                  <a:schemeClr val="tx2"/>
                </a:solidFill>
              </a:rPr>
              <a:t>  — мої відгуки · вхід</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Автентифікація та безпека</a:t>
            </a:r>
            <a:endParaRPr lang="en-US" sz="3400" dirty="0"/>
          </a:p>
        </p:txBody>
      </p:sp>
      <p:sp>
        <p:nvSpPr>
          <p:cNvPr id="3" name="step card 1"/>
          <p:cNvSpPr/>
          <p:nvPr/>
        </p:nvSpPr>
        <p:spPr>
          <a:xfrm>
            <a:off x="548640" y="1417320"/>
            <a:ext cx="1920240" cy="2514600"/>
          </a:xfrm>
          <a:prstGeom prst="roundRect">
            <a:avLst>
              <a:gd name="adj" fmla="val 5714"/>
            </a:avLst>
          </a:prstGeom>
          <a:solidFill>
            <a:schemeClr val="bg2"/>
          </a:solidFill>
          <a:ln/>
        </p:spPr>
      </p:sp>
      <p:sp>
        <p:nvSpPr>
          <p:cNvPr id="4" name="step icon 1 circle"/>
          <p:cNvSpPr/>
          <p:nvPr/>
        </p:nvSpPr>
        <p:spPr>
          <a:xfrm>
            <a:off x="1143000" y="1645920"/>
            <a:ext cx="731520" cy="731520"/>
          </a:xfrm>
          <a:prstGeom prst="ellipse">
            <a:avLst/>
          </a:prstGeom>
          <a:solidFill>
            <a:schemeClr val="accent1"/>
          </a:solidFill>
          <a:ln/>
        </p:spPr>
      </p:sp>
      <p:pic>
        <p:nvPicPr>
          <p:cNvPr id="5" name="step icon 1 glyph" descr="preencoded.png">    </p:cNvPr>
          <p:cNvPicPr>
            <a:picLocks noChangeAspect="1"/>
          </p:cNvPicPr>
          <p:nvPr/>
        </p:nvPicPr>
        <p:blipFill>
          <a:blip r:embed="rId1"/>
          <a:stretch>
            <a:fillRect/>
          </a:stretch>
        </p:blipFill>
        <p:spPr>
          <a:xfrm>
            <a:off x="1325880" y="1828800"/>
            <a:ext cx="365760" cy="365760"/>
          </a:xfrm>
          <a:prstGeom prst="rect">
            <a:avLst/>
          </a:prstGeom>
        </p:spPr>
      </p:pic>
      <p:sp>
        <p:nvSpPr>
          <p:cNvPr id="6" name="Text 3"/>
          <p:cNvSpPr txBox="1"/>
          <p:nvPr/>
        </p:nvSpPr>
        <p:spPr>
          <a:xfrm>
            <a:off x="685800" y="2514600"/>
            <a:ext cx="1645920" cy="457200"/>
          </a:xfrm>
          <a:prstGeom prst="rect">
            <a:avLst/>
          </a:prstGeom>
          <a:noFill/>
          <a:ln/>
        </p:spPr>
        <p:txBody>
          <a:bodyPr wrap="square" lIns="0" tIns="0" rIns="0" bIns="0" rtlCol="0" anchor="ctr"/>
          <a:lstStyle/>
          <a:p>
            <a:pPr algn="ctr" indent="0" marL="0">
              <a:buNone/>
            </a:pPr>
            <a:r>
              <a:rPr lang="en-US" sz="1600" b="1" dirty="0">
                <a:solidFill>
                  <a:schemeClr val="tx1"/>
                </a:solidFill>
              </a:rPr>
              <a:t>1. Реєстрація</a:t>
            </a:r>
            <a:endParaRPr lang="en-US" sz="1600" dirty="0"/>
          </a:p>
        </p:txBody>
      </p:sp>
      <p:sp>
        <p:nvSpPr>
          <p:cNvPr id="7" name="Text 4"/>
          <p:cNvSpPr txBox="1"/>
          <p:nvPr/>
        </p:nvSpPr>
        <p:spPr>
          <a:xfrm>
            <a:off x="685800" y="3017520"/>
            <a:ext cx="1645920" cy="1097280"/>
          </a:xfrm>
          <a:prstGeom prst="rect">
            <a:avLst/>
          </a:prstGeom>
          <a:noFill/>
          <a:ln/>
        </p:spPr>
        <p:txBody>
          <a:bodyPr wrap="square" lIns="0" tIns="0" rIns="0" bIns="0" rtlCol="0" anchor="t"/>
          <a:lstStyle/>
          <a:p>
            <a:pPr algn="ctr" indent="0" marL="0">
              <a:buNone/>
            </a:pPr>
            <a:r>
              <a:rPr lang="en-US" sz="1300" dirty="0">
                <a:solidFill>
                  <a:schemeClr val="tx2"/>
                </a:solidFill>
              </a:rPr>
              <a:t>Пароль хешується алгоритмом BCrypt</a:t>
            </a:r>
            <a:endParaRPr lang="en-US" sz="1300" dirty="0"/>
          </a:p>
        </p:txBody>
      </p:sp>
      <p:sp>
        <p:nvSpPr>
          <p:cNvPr id="8" name="step arrow 1"/>
          <p:cNvSpPr/>
          <p:nvPr/>
        </p:nvSpPr>
        <p:spPr>
          <a:xfrm>
            <a:off x="2496312" y="2807208"/>
            <a:ext cx="310896" cy="0"/>
          </a:xfrm>
          <a:prstGeom prst="line">
            <a:avLst/>
          </a:prstGeom>
          <a:noFill/>
          <a:ln w="25400">
            <a:solidFill>
              <a:schemeClr val="accent1"/>
            </a:solidFill>
            <a:prstDash val="solid"/>
            <a:tailEnd type="triangle"/>
          </a:ln>
        </p:spPr>
      </p:sp>
      <p:sp>
        <p:nvSpPr>
          <p:cNvPr id="9" name="step card 2"/>
          <p:cNvSpPr/>
          <p:nvPr/>
        </p:nvSpPr>
        <p:spPr>
          <a:xfrm>
            <a:off x="2834640" y="1417320"/>
            <a:ext cx="1920240" cy="2514600"/>
          </a:xfrm>
          <a:prstGeom prst="roundRect">
            <a:avLst>
              <a:gd name="adj" fmla="val 5714"/>
            </a:avLst>
          </a:prstGeom>
          <a:solidFill>
            <a:schemeClr val="bg2"/>
          </a:solidFill>
          <a:ln/>
        </p:spPr>
      </p:sp>
      <p:sp>
        <p:nvSpPr>
          <p:cNvPr id="10" name="step icon 2 circle"/>
          <p:cNvSpPr/>
          <p:nvPr/>
        </p:nvSpPr>
        <p:spPr>
          <a:xfrm>
            <a:off x="3429000" y="1645920"/>
            <a:ext cx="731520" cy="731520"/>
          </a:xfrm>
          <a:prstGeom prst="ellipse">
            <a:avLst/>
          </a:prstGeom>
          <a:solidFill>
            <a:schemeClr val="accent1"/>
          </a:solidFill>
          <a:ln/>
        </p:spPr>
      </p:sp>
      <p:pic>
        <p:nvPicPr>
          <p:cNvPr id="11" name="step icon 2 glyph" descr="preencoded.png">    </p:cNvPr>
          <p:cNvPicPr>
            <a:picLocks noChangeAspect="1"/>
          </p:cNvPicPr>
          <p:nvPr/>
        </p:nvPicPr>
        <p:blipFill>
          <a:blip r:embed="rId2"/>
          <a:stretch>
            <a:fillRect/>
          </a:stretch>
        </p:blipFill>
        <p:spPr>
          <a:xfrm>
            <a:off x="3611880" y="1828800"/>
            <a:ext cx="365760" cy="365760"/>
          </a:xfrm>
          <a:prstGeom prst="rect">
            <a:avLst/>
          </a:prstGeom>
        </p:spPr>
      </p:pic>
      <p:sp>
        <p:nvSpPr>
          <p:cNvPr id="12" name="Text 8"/>
          <p:cNvSpPr txBox="1"/>
          <p:nvPr/>
        </p:nvSpPr>
        <p:spPr>
          <a:xfrm>
            <a:off x="2971800" y="2514600"/>
            <a:ext cx="1645920" cy="457200"/>
          </a:xfrm>
          <a:prstGeom prst="rect">
            <a:avLst/>
          </a:prstGeom>
          <a:noFill/>
          <a:ln/>
        </p:spPr>
        <p:txBody>
          <a:bodyPr wrap="square" lIns="0" tIns="0" rIns="0" bIns="0" rtlCol="0" anchor="ctr"/>
          <a:lstStyle/>
          <a:p>
            <a:pPr algn="ctr" indent="0" marL="0">
              <a:buNone/>
            </a:pPr>
            <a:r>
              <a:rPr lang="en-US" sz="1600" b="1" dirty="0">
                <a:solidFill>
                  <a:schemeClr val="tx1"/>
                </a:solidFill>
              </a:rPr>
              <a:t>2. Код на пошту</a:t>
            </a:r>
            <a:endParaRPr lang="en-US" sz="1600" dirty="0"/>
          </a:p>
        </p:txBody>
      </p:sp>
      <p:sp>
        <p:nvSpPr>
          <p:cNvPr id="13" name="Text 9"/>
          <p:cNvSpPr txBox="1"/>
          <p:nvPr/>
        </p:nvSpPr>
        <p:spPr>
          <a:xfrm>
            <a:off x="2971800" y="3017520"/>
            <a:ext cx="1645920" cy="1097280"/>
          </a:xfrm>
          <a:prstGeom prst="rect">
            <a:avLst/>
          </a:prstGeom>
          <a:noFill/>
          <a:ln/>
        </p:spPr>
        <p:txBody>
          <a:bodyPr wrap="square" lIns="0" tIns="0" rIns="0" bIns="0" rtlCol="0" anchor="t"/>
          <a:lstStyle/>
          <a:p>
            <a:pPr algn="ctr" indent="0" marL="0">
              <a:buNone/>
            </a:pPr>
            <a:r>
              <a:rPr lang="en-US" sz="1300" dirty="0">
                <a:solidFill>
                  <a:schemeClr val="tx2"/>
                </a:solidFill>
              </a:rPr>
              <a:t>6-значний код надсилається через MailKit</a:t>
            </a:r>
            <a:endParaRPr lang="en-US" sz="1300" dirty="0"/>
          </a:p>
        </p:txBody>
      </p:sp>
      <p:sp>
        <p:nvSpPr>
          <p:cNvPr id="14" name="step arrow 2"/>
          <p:cNvSpPr/>
          <p:nvPr/>
        </p:nvSpPr>
        <p:spPr>
          <a:xfrm>
            <a:off x="4782312" y="2807208"/>
            <a:ext cx="310896" cy="0"/>
          </a:xfrm>
          <a:prstGeom prst="line">
            <a:avLst/>
          </a:prstGeom>
          <a:noFill/>
          <a:ln w="25400">
            <a:solidFill>
              <a:schemeClr val="accent1"/>
            </a:solidFill>
            <a:prstDash val="solid"/>
            <a:tailEnd type="triangle"/>
          </a:ln>
        </p:spPr>
      </p:sp>
      <p:sp>
        <p:nvSpPr>
          <p:cNvPr id="15" name="step card 3"/>
          <p:cNvSpPr/>
          <p:nvPr/>
        </p:nvSpPr>
        <p:spPr>
          <a:xfrm>
            <a:off x="5120640" y="1417320"/>
            <a:ext cx="1920240" cy="2514600"/>
          </a:xfrm>
          <a:prstGeom prst="roundRect">
            <a:avLst>
              <a:gd name="adj" fmla="val 5714"/>
            </a:avLst>
          </a:prstGeom>
          <a:solidFill>
            <a:schemeClr val="bg2"/>
          </a:solidFill>
          <a:ln/>
        </p:spPr>
      </p:sp>
      <p:sp>
        <p:nvSpPr>
          <p:cNvPr id="16" name="step icon 3 circle"/>
          <p:cNvSpPr/>
          <p:nvPr/>
        </p:nvSpPr>
        <p:spPr>
          <a:xfrm>
            <a:off x="5715000" y="1645920"/>
            <a:ext cx="731520" cy="731520"/>
          </a:xfrm>
          <a:prstGeom prst="ellipse">
            <a:avLst/>
          </a:prstGeom>
          <a:solidFill>
            <a:schemeClr val="accent1"/>
          </a:solidFill>
          <a:ln/>
        </p:spPr>
      </p:sp>
      <p:pic>
        <p:nvPicPr>
          <p:cNvPr id="17" name="step icon 3 glyph" descr="preencoded.png">    </p:cNvPr>
          <p:cNvPicPr>
            <a:picLocks noChangeAspect="1"/>
          </p:cNvPicPr>
          <p:nvPr/>
        </p:nvPicPr>
        <p:blipFill>
          <a:blip r:embed="rId3"/>
          <a:stretch>
            <a:fillRect/>
          </a:stretch>
        </p:blipFill>
        <p:spPr>
          <a:xfrm>
            <a:off x="5897880" y="1828800"/>
            <a:ext cx="365760" cy="365760"/>
          </a:xfrm>
          <a:prstGeom prst="rect">
            <a:avLst/>
          </a:prstGeom>
        </p:spPr>
      </p:pic>
      <p:sp>
        <p:nvSpPr>
          <p:cNvPr id="18" name="Text 13"/>
          <p:cNvSpPr txBox="1"/>
          <p:nvPr/>
        </p:nvSpPr>
        <p:spPr>
          <a:xfrm>
            <a:off x="5257800" y="2514600"/>
            <a:ext cx="1645920" cy="457200"/>
          </a:xfrm>
          <a:prstGeom prst="rect">
            <a:avLst/>
          </a:prstGeom>
          <a:noFill/>
          <a:ln/>
        </p:spPr>
        <p:txBody>
          <a:bodyPr wrap="square" lIns="0" tIns="0" rIns="0" bIns="0" rtlCol="0" anchor="ctr"/>
          <a:lstStyle/>
          <a:p>
            <a:pPr algn="ctr" indent="0" marL="0">
              <a:buNone/>
            </a:pPr>
            <a:r>
              <a:rPr lang="en-US" sz="1600" b="1" dirty="0">
                <a:solidFill>
                  <a:schemeClr val="tx1"/>
                </a:solidFill>
              </a:rPr>
              <a:t>3. Підтвердження</a:t>
            </a:r>
            <a:endParaRPr lang="en-US" sz="1600" dirty="0"/>
          </a:p>
        </p:txBody>
      </p:sp>
      <p:sp>
        <p:nvSpPr>
          <p:cNvPr id="19" name="Text 14"/>
          <p:cNvSpPr txBox="1"/>
          <p:nvPr/>
        </p:nvSpPr>
        <p:spPr>
          <a:xfrm>
            <a:off x="5257800" y="3017520"/>
            <a:ext cx="1645920" cy="1097280"/>
          </a:xfrm>
          <a:prstGeom prst="rect">
            <a:avLst/>
          </a:prstGeom>
          <a:noFill/>
          <a:ln/>
        </p:spPr>
        <p:txBody>
          <a:bodyPr wrap="square" lIns="0" tIns="0" rIns="0" bIns="0" rtlCol="0" anchor="t"/>
          <a:lstStyle/>
          <a:p>
            <a:pPr algn="ctr" indent="0" marL="0">
              <a:buNone/>
            </a:pPr>
            <a:r>
              <a:rPr lang="en-US" sz="1300" dirty="0">
                <a:solidFill>
                  <a:schemeClr val="tx2"/>
                </a:solidFill>
              </a:rPr>
              <a:t>Перевірка коду: POST /verify-email</a:t>
            </a:r>
            <a:endParaRPr lang="en-US" sz="1300" dirty="0"/>
          </a:p>
        </p:txBody>
      </p:sp>
      <p:sp>
        <p:nvSpPr>
          <p:cNvPr id="20" name="step arrow 3"/>
          <p:cNvSpPr/>
          <p:nvPr/>
        </p:nvSpPr>
        <p:spPr>
          <a:xfrm>
            <a:off x="7068312" y="2807208"/>
            <a:ext cx="310896" cy="0"/>
          </a:xfrm>
          <a:prstGeom prst="line">
            <a:avLst/>
          </a:prstGeom>
          <a:noFill/>
          <a:ln w="25400">
            <a:solidFill>
              <a:schemeClr val="accent1"/>
            </a:solidFill>
            <a:prstDash val="solid"/>
            <a:tailEnd type="triangle"/>
          </a:ln>
        </p:spPr>
      </p:sp>
      <p:sp>
        <p:nvSpPr>
          <p:cNvPr id="21" name="step card 4"/>
          <p:cNvSpPr/>
          <p:nvPr/>
        </p:nvSpPr>
        <p:spPr>
          <a:xfrm>
            <a:off x="7406640" y="1417320"/>
            <a:ext cx="1920240" cy="2514600"/>
          </a:xfrm>
          <a:prstGeom prst="roundRect">
            <a:avLst>
              <a:gd name="adj" fmla="val 5714"/>
            </a:avLst>
          </a:prstGeom>
          <a:solidFill>
            <a:schemeClr val="bg2"/>
          </a:solidFill>
          <a:ln/>
        </p:spPr>
      </p:sp>
      <p:sp>
        <p:nvSpPr>
          <p:cNvPr id="22" name="step icon 4 circle"/>
          <p:cNvSpPr/>
          <p:nvPr/>
        </p:nvSpPr>
        <p:spPr>
          <a:xfrm>
            <a:off x="8001000" y="1645920"/>
            <a:ext cx="731520" cy="731520"/>
          </a:xfrm>
          <a:prstGeom prst="ellipse">
            <a:avLst/>
          </a:prstGeom>
          <a:solidFill>
            <a:schemeClr val="accent1"/>
          </a:solidFill>
          <a:ln/>
        </p:spPr>
      </p:sp>
      <p:pic>
        <p:nvPicPr>
          <p:cNvPr id="23" name="step icon 4 glyph" descr="preencoded.png">    </p:cNvPr>
          <p:cNvPicPr>
            <a:picLocks noChangeAspect="1"/>
          </p:cNvPicPr>
          <p:nvPr/>
        </p:nvPicPr>
        <p:blipFill>
          <a:blip r:embed="rId4"/>
          <a:stretch>
            <a:fillRect/>
          </a:stretch>
        </p:blipFill>
        <p:spPr>
          <a:xfrm>
            <a:off x="8183880" y="1828800"/>
            <a:ext cx="365760" cy="365760"/>
          </a:xfrm>
          <a:prstGeom prst="rect">
            <a:avLst/>
          </a:prstGeom>
        </p:spPr>
      </p:pic>
      <p:sp>
        <p:nvSpPr>
          <p:cNvPr id="24" name="Text 18"/>
          <p:cNvSpPr txBox="1"/>
          <p:nvPr/>
        </p:nvSpPr>
        <p:spPr>
          <a:xfrm>
            <a:off x="7543800" y="2514600"/>
            <a:ext cx="1645920" cy="457200"/>
          </a:xfrm>
          <a:prstGeom prst="rect">
            <a:avLst/>
          </a:prstGeom>
          <a:noFill/>
          <a:ln/>
        </p:spPr>
        <p:txBody>
          <a:bodyPr wrap="square" lIns="0" tIns="0" rIns="0" bIns="0" rtlCol="0" anchor="ctr"/>
          <a:lstStyle/>
          <a:p>
            <a:pPr algn="ctr" indent="0" marL="0">
              <a:buNone/>
            </a:pPr>
            <a:r>
              <a:rPr lang="en-US" sz="1600" b="1" dirty="0">
                <a:solidFill>
                  <a:schemeClr val="tx1"/>
                </a:solidFill>
              </a:rPr>
              <a:t>4. Вхід і JWT</a:t>
            </a:r>
            <a:endParaRPr lang="en-US" sz="1600" dirty="0"/>
          </a:p>
        </p:txBody>
      </p:sp>
      <p:sp>
        <p:nvSpPr>
          <p:cNvPr id="25" name="Text 19"/>
          <p:cNvSpPr txBox="1"/>
          <p:nvPr/>
        </p:nvSpPr>
        <p:spPr>
          <a:xfrm>
            <a:off x="7543800" y="3017520"/>
            <a:ext cx="1645920" cy="1097280"/>
          </a:xfrm>
          <a:prstGeom prst="rect">
            <a:avLst/>
          </a:prstGeom>
          <a:noFill/>
          <a:ln/>
        </p:spPr>
        <p:txBody>
          <a:bodyPr wrap="square" lIns="0" tIns="0" rIns="0" bIns="0" rtlCol="0" anchor="t"/>
          <a:lstStyle/>
          <a:p>
            <a:pPr algn="ctr" indent="0" marL="0">
              <a:buNone/>
            </a:pPr>
            <a:r>
              <a:rPr lang="en-US" sz="1300" dirty="0">
                <a:solidFill>
                  <a:schemeClr val="tx2"/>
                </a:solidFill>
              </a:rPr>
              <a:t>Токен діє 2 год., підпис HMAC-SHA256</a:t>
            </a:r>
            <a:endParaRPr lang="en-US" sz="1300" dirty="0"/>
          </a:p>
        </p:txBody>
      </p:sp>
      <p:sp>
        <p:nvSpPr>
          <p:cNvPr id="26" name="step arrow 4"/>
          <p:cNvSpPr/>
          <p:nvPr/>
        </p:nvSpPr>
        <p:spPr>
          <a:xfrm>
            <a:off x="9354312" y="2807208"/>
            <a:ext cx="310896" cy="0"/>
          </a:xfrm>
          <a:prstGeom prst="line">
            <a:avLst/>
          </a:prstGeom>
          <a:noFill/>
          <a:ln w="25400">
            <a:solidFill>
              <a:schemeClr val="accent1"/>
            </a:solidFill>
            <a:prstDash val="solid"/>
            <a:tailEnd type="triangle"/>
          </a:ln>
        </p:spPr>
      </p:sp>
      <p:sp>
        <p:nvSpPr>
          <p:cNvPr id="27" name="step card 5"/>
          <p:cNvSpPr/>
          <p:nvPr/>
        </p:nvSpPr>
        <p:spPr>
          <a:xfrm>
            <a:off x="9692640" y="1417320"/>
            <a:ext cx="1920240" cy="2514600"/>
          </a:xfrm>
          <a:prstGeom prst="roundRect">
            <a:avLst>
              <a:gd name="adj" fmla="val 5714"/>
            </a:avLst>
          </a:prstGeom>
          <a:solidFill>
            <a:schemeClr val="bg2"/>
          </a:solidFill>
          <a:ln/>
        </p:spPr>
      </p:sp>
      <p:sp>
        <p:nvSpPr>
          <p:cNvPr id="28" name="step icon 5 circle"/>
          <p:cNvSpPr/>
          <p:nvPr/>
        </p:nvSpPr>
        <p:spPr>
          <a:xfrm>
            <a:off x="10287000" y="1645920"/>
            <a:ext cx="731520" cy="731520"/>
          </a:xfrm>
          <a:prstGeom prst="ellipse">
            <a:avLst/>
          </a:prstGeom>
          <a:solidFill>
            <a:schemeClr val="accent1"/>
          </a:solidFill>
          <a:ln/>
        </p:spPr>
      </p:sp>
      <p:pic>
        <p:nvPicPr>
          <p:cNvPr id="29" name="step icon 5 glyph" descr="preencoded.png">    </p:cNvPr>
          <p:cNvPicPr>
            <a:picLocks noChangeAspect="1"/>
          </p:cNvPicPr>
          <p:nvPr/>
        </p:nvPicPr>
        <p:blipFill>
          <a:blip r:embed="rId5"/>
          <a:stretch>
            <a:fillRect/>
          </a:stretch>
        </p:blipFill>
        <p:spPr>
          <a:xfrm>
            <a:off x="10469880" y="1828800"/>
            <a:ext cx="365760" cy="365760"/>
          </a:xfrm>
          <a:prstGeom prst="rect">
            <a:avLst/>
          </a:prstGeom>
        </p:spPr>
      </p:pic>
      <p:sp>
        <p:nvSpPr>
          <p:cNvPr id="30" name="Text 23"/>
          <p:cNvSpPr txBox="1"/>
          <p:nvPr/>
        </p:nvSpPr>
        <p:spPr>
          <a:xfrm>
            <a:off x="9829800" y="2514600"/>
            <a:ext cx="1645920" cy="457200"/>
          </a:xfrm>
          <a:prstGeom prst="rect">
            <a:avLst/>
          </a:prstGeom>
          <a:noFill/>
          <a:ln/>
        </p:spPr>
        <p:txBody>
          <a:bodyPr wrap="square" lIns="0" tIns="0" rIns="0" bIns="0" rtlCol="0" anchor="ctr"/>
          <a:lstStyle/>
          <a:p>
            <a:pPr algn="ctr" indent="0" marL="0">
              <a:buNone/>
            </a:pPr>
            <a:r>
              <a:rPr lang="en-US" sz="1600" b="1" dirty="0">
                <a:solidFill>
                  <a:schemeClr val="tx1"/>
                </a:solidFill>
              </a:rPr>
              <a:t>5. Доступ за роллю</a:t>
            </a:r>
            <a:endParaRPr lang="en-US" sz="1600" dirty="0"/>
          </a:p>
        </p:txBody>
      </p:sp>
      <p:sp>
        <p:nvSpPr>
          <p:cNvPr id="31" name="Text 24"/>
          <p:cNvSpPr txBox="1"/>
          <p:nvPr/>
        </p:nvSpPr>
        <p:spPr>
          <a:xfrm>
            <a:off x="9829800" y="3017520"/>
            <a:ext cx="1645920" cy="1097280"/>
          </a:xfrm>
          <a:prstGeom prst="rect">
            <a:avLst/>
          </a:prstGeom>
          <a:noFill/>
          <a:ln/>
        </p:spPr>
        <p:txBody>
          <a:bodyPr wrap="square" lIns="0" tIns="0" rIns="0" bIns="0" rtlCol="0" anchor="t"/>
          <a:lstStyle/>
          <a:p>
            <a:pPr algn="ctr" indent="0" marL="0">
              <a:buNone/>
            </a:pPr>
            <a:r>
              <a:rPr lang="en-US" sz="1300" dirty="0">
                <a:solidFill>
                  <a:schemeClr val="tx2"/>
                </a:solidFill>
              </a:rPr>
              <a:t>[Authorize(Roles = ...)] на контролерах</a:t>
            </a:r>
            <a:endParaRPr lang="en-US" sz="1300" dirty="0"/>
          </a:p>
        </p:txBody>
      </p:sp>
      <p:sp>
        <p:nvSpPr>
          <p:cNvPr id="32" name="fact card 1"/>
          <p:cNvSpPr/>
          <p:nvPr/>
        </p:nvSpPr>
        <p:spPr>
          <a:xfrm>
            <a:off x="548640" y="4343400"/>
            <a:ext cx="3474720" cy="1371600"/>
          </a:xfrm>
          <a:prstGeom prst="roundRect">
            <a:avLst>
              <a:gd name="adj" fmla="val 8000"/>
            </a:avLst>
          </a:prstGeom>
          <a:solidFill>
            <a:schemeClr val="tx1"/>
          </a:solidFill>
          <a:ln/>
        </p:spPr>
      </p:sp>
      <p:sp>
        <p:nvSpPr>
          <p:cNvPr id="33" name="fact icon 1 circle"/>
          <p:cNvSpPr/>
          <p:nvPr/>
        </p:nvSpPr>
        <p:spPr>
          <a:xfrm>
            <a:off x="822960" y="4754880"/>
            <a:ext cx="548640" cy="548640"/>
          </a:xfrm>
          <a:prstGeom prst="ellipse">
            <a:avLst/>
          </a:prstGeom>
          <a:solidFill>
            <a:schemeClr val="accent3"/>
          </a:solidFill>
          <a:ln/>
        </p:spPr>
      </p:sp>
      <p:pic>
        <p:nvPicPr>
          <p:cNvPr id="34" name="fact icon 1 glyph" descr="preencoded.png">    </p:cNvPr>
          <p:cNvPicPr>
            <a:picLocks noChangeAspect="1"/>
          </p:cNvPicPr>
          <p:nvPr/>
        </p:nvPicPr>
        <p:blipFill>
          <a:blip r:embed="rId6"/>
          <a:stretch>
            <a:fillRect/>
          </a:stretch>
        </p:blipFill>
        <p:spPr>
          <a:xfrm>
            <a:off x="960120" y="4892040"/>
            <a:ext cx="274320" cy="274320"/>
          </a:xfrm>
          <a:prstGeom prst="rect">
            <a:avLst/>
          </a:prstGeom>
        </p:spPr>
      </p:pic>
      <p:sp>
        <p:nvSpPr>
          <p:cNvPr id="35" name="Text 27"/>
          <p:cNvSpPr txBox="1"/>
          <p:nvPr/>
        </p:nvSpPr>
        <p:spPr>
          <a:xfrm>
            <a:off x="1554480" y="4434840"/>
            <a:ext cx="2286000" cy="1188720"/>
          </a:xfrm>
          <a:prstGeom prst="rect">
            <a:avLst/>
          </a:prstGeom>
          <a:noFill/>
          <a:ln/>
        </p:spPr>
        <p:txBody>
          <a:bodyPr wrap="square" lIns="0" tIns="0" rIns="0" bIns="0" rtlCol="0" anchor="ctr"/>
          <a:lstStyle/>
          <a:p>
            <a:pPr indent="0" marL="0">
              <a:buNone/>
            </a:pPr>
            <a:r>
              <a:rPr lang="en-US" sz="1400" dirty="0">
                <a:solidFill>
                  <a:schemeClr val="bg1"/>
                </a:solidFill>
              </a:rPr>
              <a:t>Пароль ніколи не зберігається у відкритому вигляді</a:t>
            </a:r>
            <a:endParaRPr lang="en-US" sz="1400" dirty="0"/>
          </a:p>
        </p:txBody>
      </p:sp>
      <p:sp>
        <p:nvSpPr>
          <p:cNvPr id="36" name="fact card 2"/>
          <p:cNvSpPr/>
          <p:nvPr/>
        </p:nvSpPr>
        <p:spPr>
          <a:xfrm>
            <a:off x="4343400" y="4343400"/>
            <a:ext cx="3474720" cy="1371600"/>
          </a:xfrm>
          <a:prstGeom prst="roundRect">
            <a:avLst>
              <a:gd name="adj" fmla="val 8000"/>
            </a:avLst>
          </a:prstGeom>
          <a:solidFill>
            <a:schemeClr val="tx1"/>
          </a:solidFill>
          <a:ln/>
        </p:spPr>
      </p:sp>
      <p:sp>
        <p:nvSpPr>
          <p:cNvPr id="37" name="fact icon 2 circle"/>
          <p:cNvSpPr/>
          <p:nvPr/>
        </p:nvSpPr>
        <p:spPr>
          <a:xfrm>
            <a:off x="4617720" y="4754880"/>
            <a:ext cx="548640" cy="548640"/>
          </a:xfrm>
          <a:prstGeom prst="ellipse">
            <a:avLst/>
          </a:prstGeom>
          <a:solidFill>
            <a:schemeClr val="accent3"/>
          </a:solidFill>
          <a:ln/>
        </p:spPr>
      </p:sp>
      <p:pic>
        <p:nvPicPr>
          <p:cNvPr id="38" name="fact icon 2 glyph" descr="preencoded.png">    </p:cNvPr>
          <p:cNvPicPr>
            <a:picLocks noChangeAspect="1"/>
          </p:cNvPicPr>
          <p:nvPr/>
        </p:nvPicPr>
        <p:blipFill>
          <a:blip r:embed="rId7"/>
          <a:stretch>
            <a:fillRect/>
          </a:stretch>
        </p:blipFill>
        <p:spPr>
          <a:xfrm>
            <a:off x="4754880" y="4892040"/>
            <a:ext cx="274320" cy="274320"/>
          </a:xfrm>
          <a:prstGeom prst="rect">
            <a:avLst/>
          </a:prstGeom>
        </p:spPr>
      </p:pic>
      <p:sp>
        <p:nvSpPr>
          <p:cNvPr id="39" name="Text 30"/>
          <p:cNvSpPr txBox="1"/>
          <p:nvPr/>
        </p:nvSpPr>
        <p:spPr>
          <a:xfrm>
            <a:off x="5349240" y="4434840"/>
            <a:ext cx="2286000" cy="1188720"/>
          </a:xfrm>
          <a:prstGeom prst="rect">
            <a:avLst/>
          </a:prstGeom>
          <a:noFill/>
          <a:ln/>
        </p:spPr>
        <p:txBody>
          <a:bodyPr wrap="square" lIns="0" tIns="0" rIns="0" bIns="0" rtlCol="0" anchor="ctr"/>
          <a:lstStyle/>
          <a:p>
            <a:pPr indent="0" marL="0">
              <a:buNone/>
            </a:pPr>
            <a:r>
              <a:rPr lang="en-US" sz="1400" dirty="0">
                <a:solidFill>
                  <a:schemeClr val="bg1"/>
                </a:solidFill>
              </a:rPr>
              <a:t>Токен містить Id, Email і роль користувача</a:t>
            </a:r>
            <a:endParaRPr lang="en-US" sz="1400" dirty="0"/>
          </a:p>
        </p:txBody>
      </p:sp>
      <p:sp>
        <p:nvSpPr>
          <p:cNvPr id="40" name="fact card 3"/>
          <p:cNvSpPr/>
          <p:nvPr/>
        </p:nvSpPr>
        <p:spPr>
          <a:xfrm>
            <a:off x="8138160" y="4343400"/>
            <a:ext cx="3474720" cy="1371600"/>
          </a:xfrm>
          <a:prstGeom prst="roundRect">
            <a:avLst>
              <a:gd name="adj" fmla="val 8000"/>
            </a:avLst>
          </a:prstGeom>
          <a:solidFill>
            <a:schemeClr val="tx1"/>
          </a:solidFill>
          <a:ln/>
        </p:spPr>
      </p:sp>
      <p:sp>
        <p:nvSpPr>
          <p:cNvPr id="41" name="fact icon 3 circle"/>
          <p:cNvSpPr/>
          <p:nvPr/>
        </p:nvSpPr>
        <p:spPr>
          <a:xfrm>
            <a:off x="8412480" y="4754880"/>
            <a:ext cx="548640" cy="548640"/>
          </a:xfrm>
          <a:prstGeom prst="ellipse">
            <a:avLst/>
          </a:prstGeom>
          <a:solidFill>
            <a:schemeClr val="accent3"/>
          </a:solidFill>
          <a:ln/>
        </p:spPr>
      </p:sp>
      <p:pic>
        <p:nvPicPr>
          <p:cNvPr id="42" name="fact icon 3 glyph" descr="preencoded.png">    </p:cNvPr>
          <p:cNvPicPr>
            <a:picLocks noChangeAspect="1"/>
          </p:cNvPicPr>
          <p:nvPr/>
        </p:nvPicPr>
        <p:blipFill>
          <a:blip r:embed="rId8"/>
          <a:stretch>
            <a:fillRect/>
          </a:stretch>
        </p:blipFill>
        <p:spPr>
          <a:xfrm>
            <a:off x="8549640" y="4892040"/>
            <a:ext cx="274320" cy="274320"/>
          </a:xfrm>
          <a:prstGeom prst="rect">
            <a:avLst/>
          </a:prstGeom>
        </p:spPr>
      </p:pic>
      <p:sp>
        <p:nvSpPr>
          <p:cNvPr id="43" name="Text 33"/>
          <p:cNvSpPr txBox="1"/>
          <p:nvPr/>
        </p:nvSpPr>
        <p:spPr>
          <a:xfrm>
            <a:off x="9144000" y="4434840"/>
            <a:ext cx="2286000" cy="1188720"/>
          </a:xfrm>
          <a:prstGeom prst="rect">
            <a:avLst/>
          </a:prstGeom>
          <a:noFill/>
          <a:ln/>
        </p:spPr>
        <p:txBody>
          <a:bodyPr wrap="square" lIns="0" tIns="0" rIns="0" bIns="0" rtlCol="0" anchor="ctr"/>
          <a:lstStyle/>
          <a:p>
            <a:pPr indent="0" marL="0">
              <a:buNone/>
            </a:pPr>
            <a:r>
              <a:rPr lang="en-US" sz="1400" dirty="0">
                <a:solidFill>
                  <a:schemeClr val="bg1"/>
                </a:solidFill>
              </a:rPr>
              <a:t>Власник бачить броні лише свого закладу (перевірка OwnerId)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Інтерфейс: пошук і бронювання</a:t>
            </a:r>
            <a:endParaRPr lang="en-US" sz="3400" dirty="0"/>
          </a:p>
        </p:txBody>
      </p:sp>
      <p:sp>
        <p:nvSpPr>
          <p:cNvPr id="3" name="screenshot frame 1"/>
          <p:cNvSpPr/>
          <p:nvPr/>
        </p:nvSpPr>
        <p:spPr>
          <a:xfrm>
            <a:off x="548640" y="1371600"/>
            <a:ext cx="5394960" cy="3611880"/>
          </a:xfrm>
          <a:prstGeom prst="roundRect">
            <a:avLst>
              <a:gd name="adj" fmla="val 2532"/>
            </a:avLst>
          </a:prstGeom>
          <a:solidFill>
            <a:schemeClr val="bg2"/>
          </a:solidFill>
          <a:ln w="19050">
            <a:solidFill>
              <a:schemeClr val="accent6"/>
            </a:solidFill>
            <a:prstDash val="dash"/>
          </a:ln>
        </p:spPr>
      </p:sp>
      <p:sp>
        <p:nvSpPr>
          <p:cNvPr id="4" name="Text 2"/>
          <p:cNvSpPr txBox="1"/>
          <p:nvPr/>
        </p:nvSpPr>
        <p:spPr>
          <a:xfrm>
            <a:off x="822960" y="2834640"/>
            <a:ext cx="4846320" cy="640080"/>
          </a:xfrm>
          <a:prstGeom prst="rect">
            <a:avLst/>
          </a:prstGeom>
          <a:noFill/>
          <a:ln/>
        </p:spPr>
        <p:txBody>
          <a:bodyPr wrap="square" lIns="0" tIns="0" rIns="0" bIns="0" rtlCol="0" anchor="ctr"/>
          <a:lstStyle/>
          <a:p>
            <a:pPr algn="ctr" indent="0" marL="0">
              <a:buNone/>
            </a:pPr>
            <a:r>
              <a:rPr lang="en-US" sz="1400" i="1" dirty="0">
                <a:solidFill>
                  <a:schemeClr val="tx2"/>
                </a:solidFill>
              </a:rPr>
              <a:t>[ Вставте скріншот: головна сторінка ]</a:t>
            </a:r>
            <a:endParaRPr lang="en-US" sz="1400" dirty="0"/>
          </a:p>
        </p:txBody>
      </p:sp>
      <p:sp>
        <p:nvSpPr>
          <p:cNvPr id="5" name="Text 3"/>
          <p:cNvSpPr txBox="1"/>
          <p:nvPr/>
        </p:nvSpPr>
        <p:spPr>
          <a:xfrm>
            <a:off x="548640" y="5120640"/>
            <a:ext cx="5394960" cy="365760"/>
          </a:xfrm>
          <a:prstGeom prst="rect">
            <a:avLst/>
          </a:prstGeom>
          <a:noFill/>
          <a:ln/>
        </p:spPr>
        <p:txBody>
          <a:bodyPr wrap="square" lIns="0" tIns="0" rIns="0" bIns="0" rtlCol="0" anchor="t"/>
          <a:lstStyle/>
          <a:p>
            <a:pPr indent="0" marL="0">
              <a:buNone/>
            </a:pPr>
            <a:r>
              <a:rPr lang="en-US" sz="1700" b="1" dirty="0">
                <a:solidFill>
                  <a:schemeClr val="tx1"/>
                </a:solidFill>
              </a:rPr>
              <a:t>Головна сторінка</a:t>
            </a:r>
            <a:endParaRPr lang="en-US" sz="1700" dirty="0"/>
          </a:p>
        </p:txBody>
      </p:sp>
      <p:sp>
        <p:nvSpPr>
          <p:cNvPr id="6" name="Text 4"/>
          <p:cNvSpPr txBox="1"/>
          <p:nvPr/>
        </p:nvSpPr>
        <p:spPr>
          <a:xfrm>
            <a:off x="548640" y="5486400"/>
            <a:ext cx="5394960" cy="731520"/>
          </a:xfrm>
          <a:prstGeom prst="rect">
            <a:avLst/>
          </a:prstGeom>
          <a:noFill/>
          <a:ln/>
        </p:spPr>
        <p:txBody>
          <a:bodyPr wrap="square" lIns="0" tIns="0" rIns="0" bIns="0" rtlCol="0" anchor="t"/>
          <a:lstStyle/>
          <a:p>
            <a:pPr indent="0" marL="0">
              <a:buNone/>
            </a:pPr>
            <a:r>
              <a:rPr lang="en-US" sz="1400" dirty="0">
                <a:solidFill>
                  <a:schemeClr val="tx2"/>
                </a:solidFill>
              </a:rPr>
              <a:t>Каталог закладів, фільтри за містом, типом кухні та дитячою зоною</a:t>
            </a:r>
            <a:endParaRPr lang="en-US" sz="1400" dirty="0"/>
          </a:p>
        </p:txBody>
      </p:sp>
      <p:sp>
        <p:nvSpPr>
          <p:cNvPr id="7" name="screenshot frame 2"/>
          <p:cNvSpPr/>
          <p:nvPr/>
        </p:nvSpPr>
        <p:spPr>
          <a:xfrm>
            <a:off x="6217920" y="1371600"/>
            <a:ext cx="5394960" cy="3611880"/>
          </a:xfrm>
          <a:prstGeom prst="roundRect">
            <a:avLst>
              <a:gd name="adj" fmla="val 2532"/>
            </a:avLst>
          </a:prstGeom>
          <a:solidFill>
            <a:schemeClr val="bg2"/>
          </a:solidFill>
          <a:ln w="19050">
            <a:solidFill>
              <a:schemeClr val="accent6"/>
            </a:solidFill>
            <a:prstDash val="dash"/>
          </a:ln>
        </p:spPr>
      </p:sp>
      <p:sp>
        <p:nvSpPr>
          <p:cNvPr id="8" name="Text 6"/>
          <p:cNvSpPr txBox="1"/>
          <p:nvPr/>
        </p:nvSpPr>
        <p:spPr>
          <a:xfrm>
            <a:off x="6492240" y="2834640"/>
            <a:ext cx="4846320" cy="640080"/>
          </a:xfrm>
          <a:prstGeom prst="rect">
            <a:avLst/>
          </a:prstGeom>
          <a:noFill/>
          <a:ln/>
        </p:spPr>
        <p:txBody>
          <a:bodyPr wrap="square" lIns="0" tIns="0" rIns="0" bIns="0" rtlCol="0" anchor="ctr"/>
          <a:lstStyle/>
          <a:p>
            <a:pPr algn="ctr" indent="0" marL="0">
              <a:buNone/>
            </a:pPr>
            <a:r>
              <a:rPr lang="en-US" sz="1400" i="1" dirty="0">
                <a:solidFill>
                  <a:schemeClr val="tx2"/>
                </a:solidFill>
              </a:rPr>
              <a:t>[ Вставте скріншот: сторінка ресторану ]</a:t>
            </a:r>
            <a:endParaRPr lang="en-US" sz="1400" dirty="0"/>
          </a:p>
        </p:txBody>
      </p:sp>
      <p:sp>
        <p:nvSpPr>
          <p:cNvPr id="9" name="Text 7"/>
          <p:cNvSpPr txBox="1"/>
          <p:nvPr/>
        </p:nvSpPr>
        <p:spPr>
          <a:xfrm>
            <a:off x="6217920" y="5120640"/>
            <a:ext cx="5394960" cy="365760"/>
          </a:xfrm>
          <a:prstGeom prst="rect">
            <a:avLst/>
          </a:prstGeom>
          <a:noFill/>
          <a:ln/>
        </p:spPr>
        <p:txBody>
          <a:bodyPr wrap="square" lIns="0" tIns="0" rIns="0" bIns="0" rtlCol="0" anchor="t"/>
          <a:lstStyle/>
          <a:p>
            <a:pPr indent="0" marL="0">
              <a:buNone/>
            </a:pPr>
            <a:r>
              <a:rPr lang="en-US" sz="1700" b="1" dirty="0">
                <a:solidFill>
                  <a:schemeClr val="tx1"/>
                </a:solidFill>
              </a:rPr>
              <a:t>Сторінка ресторану</a:t>
            </a:r>
            <a:endParaRPr lang="en-US" sz="1700" dirty="0"/>
          </a:p>
        </p:txBody>
      </p:sp>
      <p:sp>
        <p:nvSpPr>
          <p:cNvPr id="10" name="Text 8"/>
          <p:cNvSpPr txBox="1"/>
          <p:nvPr/>
        </p:nvSpPr>
        <p:spPr>
          <a:xfrm>
            <a:off x="6217920" y="5486400"/>
            <a:ext cx="5394960" cy="731520"/>
          </a:xfrm>
          <a:prstGeom prst="rect">
            <a:avLst/>
          </a:prstGeom>
          <a:noFill/>
          <a:ln/>
        </p:spPr>
        <p:txBody>
          <a:bodyPr wrap="square" lIns="0" tIns="0" rIns="0" bIns="0" rtlCol="0" anchor="t"/>
          <a:lstStyle/>
          <a:p>
            <a:pPr indent="0" marL="0">
              <a:buNone/>
            </a:pPr>
            <a:r>
              <a:rPr lang="en-US" sz="1400" dirty="0">
                <a:solidFill>
                  <a:schemeClr val="tx2"/>
                </a:solidFill>
              </a:rPr>
              <a:t>Опис, зручності, форма бронювання та відгуки відвідувачів</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Інтерфейс: профіль і кабінет власника</a:t>
            </a:r>
            <a:endParaRPr lang="en-US" sz="3400" dirty="0"/>
          </a:p>
        </p:txBody>
      </p:sp>
      <p:sp>
        <p:nvSpPr>
          <p:cNvPr id="3" name="screenshot frame 1"/>
          <p:cNvSpPr/>
          <p:nvPr/>
        </p:nvSpPr>
        <p:spPr>
          <a:xfrm>
            <a:off x="548640" y="1371600"/>
            <a:ext cx="5394960" cy="3611880"/>
          </a:xfrm>
          <a:prstGeom prst="roundRect">
            <a:avLst>
              <a:gd name="adj" fmla="val 2532"/>
            </a:avLst>
          </a:prstGeom>
          <a:solidFill>
            <a:schemeClr val="bg2"/>
          </a:solidFill>
          <a:ln w="19050">
            <a:solidFill>
              <a:schemeClr val="accent6"/>
            </a:solidFill>
            <a:prstDash val="dash"/>
          </a:ln>
        </p:spPr>
      </p:sp>
      <p:sp>
        <p:nvSpPr>
          <p:cNvPr id="4" name="Text 2"/>
          <p:cNvSpPr txBox="1"/>
          <p:nvPr/>
        </p:nvSpPr>
        <p:spPr>
          <a:xfrm>
            <a:off x="822960" y="2834640"/>
            <a:ext cx="4846320" cy="640080"/>
          </a:xfrm>
          <a:prstGeom prst="rect">
            <a:avLst/>
          </a:prstGeom>
          <a:noFill/>
          <a:ln/>
        </p:spPr>
        <p:txBody>
          <a:bodyPr wrap="square" lIns="0" tIns="0" rIns="0" bIns="0" rtlCol="0" anchor="ctr"/>
          <a:lstStyle/>
          <a:p>
            <a:pPr algn="ctr" indent="0" marL="0">
              <a:buNone/>
            </a:pPr>
            <a:r>
              <a:rPr lang="en-US" sz="1400" i="1" dirty="0">
                <a:solidFill>
                  <a:schemeClr val="tx2"/>
                </a:solidFill>
              </a:rPr>
              <a:t>[ Вставте скріншот: профіль користувача ]</a:t>
            </a:r>
            <a:endParaRPr lang="en-US" sz="1400" dirty="0"/>
          </a:p>
        </p:txBody>
      </p:sp>
      <p:sp>
        <p:nvSpPr>
          <p:cNvPr id="5" name="Text 3"/>
          <p:cNvSpPr txBox="1"/>
          <p:nvPr/>
        </p:nvSpPr>
        <p:spPr>
          <a:xfrm>
            <a:off x="548640" y="5120640"/>
            <a:ext cx="5394960" cy="365760"/>
          </a:xfrm>
          <a:prstGeom prst="rect">
            <a:avLst/>
          </a:prstGeom>
          <a:noFill/>
          <a:ln/>
        </p:spPr>
        <p:txBody>
          <a:bodyPr wrap="square" lIns="0" tIns="0" rIns="0" bIns="0" rtlCol="0" anchor="t"/>
          <a:lstStyle/>
          <a:p>
            <a:pPr indent="0" marL="0">
              <a:buNone/>
            </a:pPr>
            <a:r>
              <a:rPr lang="en-US" sz="1700" b="1" dirty="0">
                <a:solidFill>
                  <a:schemeClr val="tx1"/>
                </a:solidFill>
              </a:rPr>
              <a:t>Профіль користувача</a:t>
            </a:r>
            <a:endParaRPr lang="en-US" sz="1700" dirty="0"/>
          </a:p>
        </p:txBody>
      </p:sp>
      <p:sp>
        <p:nvSpPr>
          <p:cNvPr id="6" name="Text 4"/>
          <p:cNvSpPr txBox="1"/>
          <p:nvPr/>
        </p:nvSpPr>
        <p:spPr>
          <a:xfrm>
            <a:off x="548640" y="5486400"/>
            <a:ext cx="5394960" cy="731520"/>
          </a:xfrm>
          <a:prstGeom prst="rect">
            <a:avLst/>
          </a:prstGeom>
          <a:noFill/>
          <a:ln/>
        </p:spPr>
        <p:txBody>
          <a:bodyPr wrap="square" lIns="0" tIns="0" rIns="0" bIns="0" rtlCol="0" anchor="t"/>
          <a:lstStyle/>
          <a:p>
            <a:pPr indent="0" marL="0">
              <a:buNone/>
            </a:pPr>
            <a:r>
              <a:rPr lang="en-US" sz="1400" dirty="0">
                <a:solidFill>
                  <a:schemeClr val="tx2"/>
                </a:solidFill>
              </a:rPr>
              <a:t>Мої бронювання зі статусами, скасування, мої відгуки</a:t>
            </a:r>
            <a:endParaRPr lang="en-US" sz="1400" dirty="0"/>
          </a:p>
        </p:txBody>
      </p:sp>
      <p:sp>
        <p:nvSpPr>
          <p:cNvPr id="7" name="screenshot frame 2"/>
          <p:cNvSpPr/>
          <p:nvPr/>
        </p:nvSpPr>
        <p:spPr>
          <a:xfrm>
            <a:off x="6217920" y="1371600"/>
            <a:ext cx="5394960" cy="3611880"/>
          </a:xfrm>
          <a:prstGeom prst="roundRect">
            <a:avLst>
              <a:gd name="adj" fmla="val 2532"/>
            </a:avLst>
          </a:prstGeom>
          <a:solidFill>
            <a:schemeClr val="bg2"/>
          </a:solidFill>
          <a:ln w="19050">
            <a:solidFill>
              <a:schemeClr val="accent6"/>
            </a:solidFill>
            <a:prstDash val="dash"/>
          </a:ln>
        </p:spPr>
      </p:sp>
      <p:sp>
        <p:nvSpPr>
          <p:cNvPr id="8" name="Text 6"/>
          <p:cNvSpPr txBox="1"/>
          <p:nvPr/>
        </p:nvSpPr>
        <p:spPr>
          <a:xfrm>
            <a:off x="6492240" y="2834640"/>
            <a:ext cx="4846320" cy="640080"/>
          </a:xfrm>
          <a:prstGeom prst="rect">
            <a:avLst/>
          </a:prstGeom>
          <a:noFill/>
          <a:ln/>
        </p:spPr>
        <p:txBody>
          <a:bodyPr wrap="square" lIns="0" tIns="0" rIns="0" bIns="0" rtlCol="0" anchor="ctr"/>
          <a:lstStyle/>
          <a:p>
            <a:pPr algn="ctr" indent="0" marL="0">
              <a:buNone/>
            </a:pPr>
            <a:r>
              <a:rPr lang="en-US" sz="1400" i="1" dirty="0">
                <a:solidFill>
                  <a:schemeClr val="tx2"/>
                </a:solidFill>
              </a:rPr>
              <a:t>[ Вставте скріншот: кабінет власника ]</a:t>
            </a:r>
            <a:endParaRPr lang="en-US" sz="1400" dirty="0"/>
          </a:p>
        </p:txBody>
      </p:sp>
      <p:sp>
        <p:nvSpPr>
          <p:cNvPr id="9" name="Text 7"/>
          <p:cNvSpPr txBox="1"/>
          <p:nvPr/>
        </p:nvSpPr>
        <p:spPr>
          <a:xfrm>
            <a:off x="6217920" y="5120640"/>
            <a:ext cx="5394960" cy="365760"/>
          </a:xfrm>
          <a:prstGeom prst="rect">
            <a:avLst/>
          </a:prstGeom>
          <a:noFill/>
          <a:ln/>
        </p:spPr>
        <p:txBody>
          <a:bodyPr wrap="square" lIns="0" tIns="0" rIns="0" bIns="0" rtlCol="0" anchor="t"/>
          <a:lstStyle/>
          <a:p>
            <a:pPr indent="0" marL="0">
              <a:buNone/>
            </a:pPr>
            <a:r>
              <a:rPr lang="en-US" sz="1700" b="1" dirty="0">
                <a:solidFill>
                  <a:schemeClr val="tx1"/>
                </a:solidFill>
              </a:rPr>
              <a:t>Кабінет власника</a:t>
            </a:r>
            <a:endParaRPr lang="en-US" sz="1700" dirty="0"/>
          </a:p>
        </p:txBody>
      </p:sp>
      <p:sp>
        <p:nvSpPr>
          <p:cNvPr id="10" name="Text 8"/>
          <p:cNvSpPr txBox="1"/>
          <p:nvPr/>
        </p:nvSpPr>
        <p:spPr>
          <a:xfrm>
            <a:off x="6217920" y="5486400"/>
            <a:ext cx="5394960" cy="731520"/>
          </a:xfrm>
          <a:prstGeom prst="rect">
            <a:avLst/>
          </a:prstGeom>
          <a:noFill/>
          <a:ln/>
        </p:spPr>
        <p:txBody>
          <a:bodyPr wrap="square" lIns="0" tIns="0" rIns="0" bIns="0" rtlCol="0" anchor="t"/>
          <a:lstStyle/>
          <a:p>
            <a:pPr indent="0" marL="0">
              <a:buNone/>
            </a:pPr>
            <a:r>
              <a:rPr lang="en-US" sz="1400" dirty="0">
                <a:solidFill>
                  <a:schemeClr val="tx2"/>
                </a:solidFill>
              </a:rPr>
              <a:t>Створення картки закладу та список його бронювань</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Тестування системи</a:t>
            </a:r>
            <a:endParaRPr lang="en-US" sz="34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500" dirty="0">
                <a:solidFill>
                  <a:schemeClr val="tx2"/>
                </a:solidFill>
              </a:rPr>
              <a:t>API перевірено через Swagger UI та файл TasteMap.http, інтерфейс — вручну в браузері</a:t>
            </a:r>
            <a:endParaRPr lang="en-US" sz="1500" dirty="0"/>
          </a:p>
        </p:txBody>
      </p:sp>
      <p:graphicFrame>
        <p:nvGraphicFramePr>
          <p:cNvPr id="14" name="test table"/>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4572000"/>
                <a:gridCol w="4846320"/>
                <a:gridCol w="1645920"/>
              </a:tblGrid>
              <a:tr h="530352">
                <a:tc>
                  <a:txBody>
                    <a:bodyPr/>
                    <a:lstStyle/>
                    <a:p>
                      <a:pPr indent="0" marL="0">
                        <a:buNone/>
                      </a:pPr>
                      <a:r>
                        <a:rPr lang="en-US" sz="1500" b="1" dirty="0">
                          <a:solidFill>
                            <a:schemeClr val="bg1"/>
                          </a:solidFill>
                        </a:rPr>
                        <a:t>Сценарій</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Очікувана реакція системи</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Засіб</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tx1"/>
                    </a:solidFill>
                  </a:tcPr>
                </a:tc>
              </a:tr>
              <a:tr h="530352">
                <a:tc>
                  <a:txBody>
                    <a:bodyPr/>
                    <a:lstStyle/>
                    <a:p>
                      <a:pPr algn="l" indent="0" marL="0">
                        <a:buNone/>
                      </a:pPr>
                      <a:r>
                        <a:rPr lang="en-US" sz="1500" dirty="0">
                          <a:solidFill>
                            <a:schemeClr val="tx1"/>
                          </a:solidFill>
                        </a:rPr>
                        <a:t>Реєстрація з уже існуючим email</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1"/>
                          </a:solidFill>
                        </a:rPr>
                        <a:t>Помилка «користувач уже існує»</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Swagger</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r h="530352">
                <a:tc>
                  <a:txBody>
                    <a:bodyPr/>
                    <a:lstStyle/>
                    <a:p>
                      <a:pPr algn="l" indent="0" marL="0">
                        <a:buNone/>
                      </a:pPr>
                      <a:r>
                        <a:rPr lang="en-US" sz="1500" dirty="0">
                          <a:solidFill>
                            <a:schemeClr val="tx1"/>
                          </a:solidFill>
                        </a:rPr>
                        <a:t>Вхід із невірним паролем</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401 Unauthorized</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Swagger</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r>
              <a:tr h="530352">
                <a:tc>
                  <a:txBody>
                    <a:bodyPr/>
                    <a:lstStyle/>
                    <a:p>
                      <a:pPr algn="l" indent="0" marL="0">
                        <a:buNone/>
                      </a:pPr>
                      <a:r>
                        <a:rPr lang="en-US" sz="1500" dirty="0">
                          <a:solidFill>
                            <a:schemeClr val="tx1"/>
                          </a:solidFill>
                        </a:rPr>
                        <a:t>Підтвердження пошти невірним кодом</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1"/>
                          </a:solidFill>
                        </a:rPr>
                        <a:t>400, «невірний код»</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UI</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r h="530352">
                <a:tc>
                  <a:txBody>
                    <a:bodyPr/>
                    <a:lstStyle/>
                    <a:p>
                      <a:pPr algn="l" indent="0" marL="0">
                        <a:buNone/>
                      </a:pPr>
                      <a:r>
                        <a:rPr lang="en-US" sz="1500" dirty="0">
                          <a:solidFill>
                            <a:schemeClr val="tx1"/>
                          </a:solidFill>
                        </a:rPr>
                        <a:t>Бронювання без токена</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401 Unauthorized</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Swagger</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r>
              <a:tr h="530352">
                <a:tc>
                  <a:txBody>
                    <a:bodyPr/>
                    <a:lstStyle/>
                    <a:p>
                      <a:pPr algn="l" indent="0" marL="0">
                        <a:buNone/>
                      </a:pPr>
                      <a:r>
                        <a:rPr lang="en-US" sz="1500" dirty="0">
                          <a:solidFill>
                            <a:schemeClr val="tx1"/>
                          </a:solidFill>
                        </a:rPr>
                        <a:t>Створення ресторану роллю User</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1"/>
                          </a:solidFill>
                        </a:rPr>
                        <a:t>403 Forbidden</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Swagger</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r h="530352">
                <a:tc>
                  <a:txBody>
                    <a:bodyPr/>
                    <a:lstStyle/>
                    <a:p>
                      <a:pPr algn="l" indent="0" marL="0">
                        <a:buNone/>
                      </a:pPr>
                      <a:r>
                        <a:rPr lang="en-US" sz="1500" dirty="0">
                          <a:solidFill>
                            <a:schemeClr val="tx1"/>
                          </a:solidFill>
                        </a:rPr>
                        <a:t>Відгук з оцінкою 6</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l" indent="0" marL="0">
                        <a:buNone/>
                      </a:pPr>
                      <a:r>
                        <a:rPr lang="en-US" sz="1500" b="1" dirty="0">
                          <a:solidFill>
                            <a:schemeClr val="accent1"/>
                          </a:solidFill>
                        </a:rPr>
                        <a:t>400, «рейтинг від 1 до 5»</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Swagger</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1"/>
                    </a:solidFill>
                  </a:tcPr>
                </a:tc>
              </a:tr>
              <a:tr h="530352">
                <a:tc>
                  <a:txBody>
                    <a:bodyPr/>
                    <a:lstStyle/>
                    <a:p>
                      <a:pPr algn="l" indent="0" marL="0">
                        <a:buNone/>
                      </a:pPr>
                      <a:r>
                        <a:rPr lang="en-US" sz="1500" dirty="0">
                          <a:solidFill>
                            <a:schemeClr val="tx1"/>
                          </a:solidFill>
                        </a:rPr>
                        <a:t>Фільтр: місто + дитяча зона</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l" indent="0" marL="0">
                        <a:buNone/>
                      </a:pPr>
                      <a:r>
                        <a:rPr lang="en-US" sz="1500" b="1" dirty="0">
                          <a:solidFill>
                            <a:schemeClr val="accent1"/>
                          </a:solidFill>
                        </a:rPr>
                        <a:t>Лише відповідні заклади</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UI</a:t>
                      </a:r>
                      <a:endParaRPr lang="en-US" sz="1500" dirty="0"/>
                    </a:p>
                  </a:txBody>
                  <a:tcPr marL="137160" marR="137160" marT="0" marB="0" anchor="ctr">
                    <a:lnL w="9525" cap="flat" cmpd="sng" algn="ctr">
                      <a:solidFill>
                        <a:srgbClr val="E9D3CC"/>
                      </a:solidFill>
                      <a:prstDash val="solid"/>
                      <a:round/>
                      <a:headEnd type="none" w="med" len="med"/>
                      <a:tailEnd type="none" w="med" len="med"/>
                    </a:lnL>
                    <a:lnR w="9525" cap="flat" cmpd="sng" algn="ctr">
                      <a:solidFill>
                        <a:srgbClr val="E9D3CC"/>
                      </a:solidFill>
                      <a:prstDash val="solid"/>
                      <a:round/>
                      <a:headEnd type="none" w="med" len="med"/>
                      <a:tailEnd type="none" w="med" len="med"/>
                    </a:lnR>
                    <a:lnT w="9525" cap="flat" cmpd="sng" algn="ctr">
                      <a:solidFill>
                        <a:srgbClr val="E9D3CC"/>
                      </a:solidFill>
                      <a:prstDash val="solid"/>
                      <a:round/>
                      <a:headEnd type="none" w="med" len="med"/>
                      <a:tailEnd type="none" w="med" len="med"/>
                    </a:lnT>
                    <a:lnB w="9525" cap="flat" cmpd="sng" algn="ctr">
                      <a:solidFill>
                        <a:srgbClr val="E9D3C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Результати в цифрах</a:t>
            </a:r>
            <a:endParaRPr lang="en-US" sz="3400" dirty="0"/>
          </a:p>
        </p:txBody>
      </p:sp>
      <p:sp>
        <p:nvSpPr>
          <p:cNvPr id="3" name="stat card 1"/>
          <p:cNvSpPr/>
          <p:nvPr/>
        </p:nvSpPr>
        <p:spPr>
          <a:xfrm>
            <a:off x="548640" y="1645920"/>
            <a:ext cx="2011680" cy="2651760"/>
          </a:xfrm>
          <a:prstGeom prst="roundRect">
            <a:avLst>
              <a:gd name="adj" fmla="val 5455"/>
            </a:avLst>
          </a:prstGeom>
          <a:solidFill>
            <a:schemeClr val="bg2"/>
          </a:solidFill>
          <a:ln/>
        </p:spPr>
      </p:sp>
      <p:sp>
        <p:nvSpPr>
          <p:cNvPr id="4" name="Text 2"/>
          <p:cNvSpPr txBox="1"/>
          <p:nvPr/>
        </p:nvSpPr>
        <p:spPr>
          <a:xfrm>
            <a:off x="548640" y="1920240"/>
            <a:ext cx="2011680" cy="1280160"/>
          </a:xfrm>
          <a:prstGeom prst="rect">
            <a:avLst/>
          </a:prstGeom>
          <a:noFill/>
          <a:ln/>
        </p:spPr>
        <p:txBody>
          <a:bodyPr wrap="square" lIns="0" tIns="0" rIns="0" bIns="0" rtlCol="0" anchor="ctr"/>
          <a:lstStyle/>
          <a:p>
            <a:pPr algn="ctr" indent="0" marL="0">
              <a:buNone/>
            </a:pPr>
            <a:r>
              <a:rPr lang="en-US" sz="6600" b="1" dirty="0">
                <a:solidFill>
                  <a:schemeClr val="accent1"/>
                </a:solidFill>
                <a:latin typeface="Cambria" pitchFamily="34" charset="0"/>
                <a:ea typeface="Cambria" pitchFamily="34" charset="-122"/>
                <a:cs typeface="Cambria" pitchFamily="34" charset="-120"/>
              </a:rPr>
              <a:t>4</a:t>
            </a:r>
            <a:endParaRPr lang="en-US" sz="6600" dirty="0"/>
          </a:p>
        </p:txBody>
      </p:sp>
      <p:sp>
        <p:nvSpPr>
          <p:cNvPr id="5" name="Text 3"/>
          <p:cNvSpPr txBox="1"/>
          <p:nvPr/>
        </p:nvSpPr>
        <p:spPr>
          <a:xfrm>
            <a:off x="685800" y="3291840"/>
            <a:ext cx="1737360" cy="731520"/>
          </a:xfrm>
          <a:prstGeom prst="rect">
            <a:avLst/>
          </a:prstGeom>
          <a:noFill/>
          <a:ln/>
        </p:spPr>
        <p:txBody>
          <a:bodyPr wrap="square" lIns="0" tIns="0" rIns="0" bIns="0" rtlCol="0" anchor="t"/>
          <a:lstStyle/>
          <a:p>
            <a:pPr algn="ctr" indent="0" marL="0">
              <a:buNone/>
            </a:pPr>
            <a:r>
              <a:rPr lang="en-US" sz="1500" dirty="0">
                <a:solidFill>
                  <a:schemeClr val="tx1"/>
                </a:solidFill>
              </a:rPr>
              <a:t>шари архітектури</a:t>
            </a:r>
            <a:endParaRPr lang="en-US" sz="1500" dirty="0"/>
          </a:p>
        </p:txBody>
      </p:sp>
      <p:sp>
        <p:nvSpPr>
          <p:cNvPr id="6" name="stat card 2"/>
          <p:cNvSpPr/>
          <p:nvPr/>
        </p:nvSpPr>
        <p:spPr>
          <a:xfrm>
            <a:off x="2811780" y="1645920"/>
            <a:ext cx="2011680" cy="2651760"/>
          </a:xfrm>
          <a:prstGeom prst="roundRect">
            <a:avLst>
              <a:gd name="adj" fmla="val 5455"/>
            </a:avLst>
          </a:prstGeom>
          <a:solidFill>
            <a:schemeClr val="bg2"/>
          </a:solidFill>
          <a:ln/>
        </p:spPr>
      </p:sp>
      <p:sp>
        <p:nvSpPr>
          <p:cNvPr id="7" name="Text 5"/>
          <p:cNvSpPr txBox="1"/>
          <p:nvPr/>
        </p:nvSpPr>
        <p:spPr>
          <a:xfrm>
            <a:off x="2811780" y="1920240"/>
            <a:ext cx="2011680" cy="1280160"/>
          </a:xfrm>
          <a:prstGeom prst="rect">
            <a:avLst/>
          </a:prstGeom>
          <a:noFill/>
          <a:ln/>
        </p:spPr>
        <p:txBody>
          <a:bodyPr wrap="square" lIns="0" tIns="0" rIns="0" bIns="0" rtlCol="0" anchor="ctr"/>
          <a:lstStyle/>
          <a:p>
            <a:pPr algn="ctr" indent="0" marL="0">
              <a:buNone/>
            </a:pPr>
            <a:r>
              <a:rPr lang="en-US" sz="6600" b="1" dirty="0">
                <a:solidFill>
                  <a:schemeClr val="accent1"/>
                </a:solidFill>
                <a:latin typeface="Cambria" pitchFamily="34" charset="0"/>
                <a:ea typeface="Cambria" pitchFamily="34" charset="-122"/>
                <a:cs typeface="Cambria" pitchFamily="34" charset="-120"/>
              </a:rPr>
              <a:t>5</a:t>
            </a:r>
            <a:endParaRPr lang="en-US" sz="6600" dirty="0"/>
          </a:p>
        </p:txBody>
      </p:sp>
      <p:sp>
        <p:nvSpPr>
          <p:cNvPr id="8" name="Text 6"/>
          <p:cNvSpPr txBox="1"/>
          <p:nvPr/>
        </p:nvSpPr>
        <p:spPr>
          <a:xfrm>
            <a:off x="2948940" y="3291840"/>
            <a:ext cx="1737360" cy="731520"/>
          </a:xfrm>
          <a:prstGeom prst="rect">
            <a:avLst/>
          </a:prstGeom>
          <a:noFill/>
          <a:ln/>
        </p:spPr>
        <p:txBody>
          <a:bodyPr wrap="square" lIns="0" tIns="0" rIns="0" bIns="0" rtlCol="0" anchor="t"/>
          <a:lstStyle/>
          <a:p>
            <a:pPr algn="ctr" indent="0" marL="0">
              <a:buNone/>
            </a:pPr>
            <a:r>
              <a:rPr lang="en-US" sz="1500" dirty="0">
                <a:solidFill>
                  <a:schemeClr val="tx1"/>
                </a:solidFill>
              </a:rPr>
              <a:t>сутностей у БД</a:t>
            </a:r>
            <a:endParaRPr lang="en-US" sz="1500" dirty="0"/>
          </a:p>
        </p:txBody>
      </p:sp>
      <p:sp>
        <p:nvSpPr>
          <p:cNvPr id="9" name="stat card 3"/>
          <p:cNvSpPr/>
          <p:nvPr/>
        </p:nvSpPr>
        <p:spPr>
          <a:xfrm>
            <a:off x="5074920" y="1645920"/>
            <a:ext cx="2011680" cy="2651760"/>
          </a:xfrm>
          <a:prstGeom prst="roundRect">
            <a:avLst>
              <a:gd name="adj" fmla="val 5455"/>
            </a:avLst>
          </a:prstGeom>
          <a:solidFill>
            <a:schemeClr val="tx1"/>
          </a:solidFill>
          <a:ln/>
        </p:spPr>
      </p:sp>
      <p:sp>
        <p:nvSpPr>
          <p:cNvPr id="10" name="Text 8"/>
          <p:cNvSpPr txBox="1"/>
          <p:nvPr/>
        </p:nvSpPr>
        <p:spPr>
          <a:xfrm>
            <a:off x="5074920" y="1920240"/>
            <a:ext cx="2011680" cy="1280160"/>
          </a:xfrm>
          <a:prstGeom prst="rect">
            <a:avLst/>
          </a:prstGeom>
          <a:noFill/>
          <a:ln/>
        </p:spPr>
        <p:txBody>
          <a:bodyPr wrap="square" lIns="0" tIns="0" rIns="0" bIns="0" rtlCol="0" anchor="ctr"/>
          <a:lstStyle/>
          <a:p>
            <a:pPr algn="ctr" indent="0" marL="0">
              <a:buNone/>
            </a:pPr>
            <a:r>
              <a:rPr lang="en-US" sz="6600" b="1" dirty="0">
                <a:solidFill>
                  <a:schemeClr val="accent2"/>
                </a:solidFill>
                <a:latin typeface="Cambria" pitchFamily="34" charset="0"/>
                <a:ea typeface="Cambria" pitchFamily="34" charset="-122"/>
                <a:cs typeface="Cambria" pitchFamily="34" charset="-120"/>
              </a:rPr>
              <a:t>14</a:t>
            </a:r>
            <a:endParaRPr lang="en-US" sz="6600" dirty="0"/>
          </a:p>
        </p:txBody>
      </p:sp>
      <p:sp>
        <p:nvSpPr>
          <p:cNvPr id="11" name="Text 9"/>
          <p:cNvSpPr txBox="1"/>
          <p:nvPr/>
        </p:nvSpPr>
        <p:spPr>
          <a:xfrm>
            <a:off x="5212080" y="3291840"/>
            <a:ext cx="1737360" cy="731520"/>
          </a:xfrm>
          <a:prstGeom prst="rect">
            <a:avLst/>
          </a:prstGeom>
          <a:noFill/>
          <a:ln/>
        </p:spPr>
        <p:txBody>
          <a:bodyPr wrap="square" lIns="0" tIns="0" rIns="0" bIns="0" rtlCol="0" anchor="t"/>
          <a:lstStyle/>
          <a:p>
            <a:pPr algn="ctr" indent="0" marL="0">
              <a:buNone/>
            </a:pPr>
            <a:r>
              <a:rPr lang="en-US" sz="1500" dirty="0">
                <a:solidFill>
                  <a:schemeClr val="bg1"/>
                </a:solidFill>
              </a:rPr>
              <a:t>REST-ендпоінтів</a:t>
            </a:r>
            <a:endParaRPr lang="en-US" sz="1500" dirty="0"/>
          </a:p>
        </p:txBody>
      </p:sp>
      <p:sp>
        <p:nvSpPr>
          <p:cNvPr id="12" name="stat card 4"/>
          <p:cNvSpPr/>
          <p:nvPr/>
        </p:nvSpPr>
        <p:spPr>
          <a:xfrm>
            <a:off x="7338060" y="1645920"/>
            <a:ext cx="2011680" cy="2651760"/>
          </a:xfrm>
          <a:prstGeom prst="roundRect">
            <a:avLst>
              <a:gd name="adj" fmla="val 5455"/>
            </a:avLst>
          </a:prstGeom>
          <a:solidFill>
            <a:schemeClr val="bg2"/>
          </a:solidFill>
          <a:ln/>
        </p:spPr>
      </p:sp>
      <p:sp>
        <p:nvSpPr>
          <p:cNvPr id="13" name="Text 11"/>
          <p:cNvSpPr txBox="1"/>
          <p:nvPr/>
        </p:nvSpPr>
        <p:spPr>
          <a:xfrm>
            <a:off x="7338060" y="1920240"/>
            <a:ext cx="2011680" cy="1280160"/>
          </a:xfrm>
          <a:prstGeom prst="rect">
            <a:avLst/>
          </a:prstGeom>
          <a:noFill/>
          <a:ln/>
        </p:spPr>
        <p:txBody>
          <a:bodyPr wrap="square" lIns="0" tIns="0" rIns="0" bIns="0" rtlCol="0" anchor="ctr"/>
          <a:lstStyle/>
          <a:p>
            <a:pPr algn="ctr" indent="0" marL="0">
              <a:buNone/>
            </a:pPr>
            <a:r>
              <a:rPr lang="en-US" sz="6600" b="1" dirty="0">
                <a:solidFill>
                  <a:schemeClr val="accent1"/>
                </a:solidFill>
                <a:latin typeface="Cambria" pitchFamily="34" charset="0"/>
                <a:ea typeface="Cambria" pitchFamily="34" charset="-122"/>
                <a:cs typeface="Cambria" pitchFamily="34" charset="-120"/>
              </a:rPr>
              <a:t>9</a:t>
            </a:r>
            <a:endParaRPr lang="en-US" sz="6600" dirty="0"/>
          </a:p>
        </p:txBody>
      </p:sp>
      <p:sp>
        <p:nvSpPr>
          <p:cNvPr id="14" name="Text 12"/>
          <p:cNvSpPr txBox="1"/>
          <p:nvPr/>
        </p:nvSpPr>
        <p:spPr>
          <a:xfrm>
            <a:off x="7475220" y="3291840"/>
            <a:ext cx="1737360" cy="731520"/>
          </a:xfrm>
          <a:prstGeom prst="rect">
            <a:avLst/>
          </a:prstGeom>
          <a:noFill/>
          <a:ln/>
        </p:spPr>
        <p:txBody>
          <a:bodyPr wrap="square" lIns="0" tIns="0" rIns="0" bIns="0" rtlCol="0" anchor="t"/>
          <a:lstStyle/>
          <a:p>
            <a:pPr algn="ctr" indent="0" marL="0">
              <a:buNone/>
            </a:pPr>
            <a:r>
              <a:rPr lang="en-US" sz="1500" dirty="0">
                <a:solidFill>
                  <a:schemeClr val="tx1"/>
                </a:solidFill>
              </a:rPr>
              <a:t>сторінок React</a:t>
            </a:r>
            <a:endParaRPr lang="en-US" sz="1500" dirty="0"/>
          </a:p>
        </p:txBody>
      </p:sp>
      <p:sp>
        <p:nvSpPr>
          <p:cNvPr id="15" name="stat card 5"/>
          <p:cNvSpPr/>
          <p:nvPr/>
        </p:nvSpPr>
        <p:spPr>
          <a:xfrm>
            <a:off x="9601200" y="1645920"/>
            <a:ext cx="2011680" cy="2651760"/>
          </a:xfrm>
          <a:prstGeom prst="roundRect">
            <a:avLst>
              <a:gd name="adj" fmla="val 5455"/>
            </a:avLst>
          </a:prstGeom>
          <a:solidFill>
            <a:schemeClr val="bg2"/>
          </a:solidFill>
          <a:ln/>
        </p:spPr>
      </p:sp>
      <p:sp>
        <p:nvSpPr>
          <p:cNvPr id="16" name="Text 14"/>
          <p:cNvSpPr txBox="1"/>
          <p:nvPr/>
        </p:nvSpPr>
        <p:spPr>
          <a:xfrm>
            <a:off x="9601200" y="1920240"/>
            <a:ext cx="2011680" cy="1280160"/>
          </a:xfrm>
          <a:prstGeom prst="rect">
            <a:avLst/>
          </a:prstGeom>
          <a:noFill/>
          <a:ln/>
        </p:spPr>
        <p:txBody>
          <a:bodyPr wrap="square" lIns="0" tIns="0" rIns="0" bIns="0" rtlCol="0" anchor="ctr"/>
          <a:lstStyle/>
          <a:p>
            <a:pPr algn="ctr" indent="0" marL="0">
              <a:buNone/>
            </a:pPr>
            <a:r>
              <a:rPr lang="en-US" sz="6600" b="1" dirty="0">
                <a:solidFill>
                  <a:schemeClr val="accent1"/>
                </a:solidFill>
                <a:latin typeface="Cambria" pitchFamily="34" charset="0"/>
                <a:ea typeface="Cambria" pitchFamily="34" charset="-122"/>
                <a:cs typeface="Cambria" pitchFamily="34" charset="-120"/>
              </a:rPr>
              <a:t>3</a:t>
            </a:r>
            <a:endParaRPr lang="en-US" sz="6600" dirty="0"/>
          </a:p>
        </p:txBody>
      </p:sp>
      <p:sp>
        <p:nvSpPr>
          <p:cNvPr id="17" name="Text 15"/>
          <p:cNvSpPr txBox="1"/>
          <p:nvPr/>
        </p:nvSpPr>
        <p:spPr>
          <a:xfrm>
            <a:off x="9738360" y="3291840"/>
            <a:ext cx="1737360" cy="731520"/>
          </a:xfrm>
          <a:prstGeom prst="rect">
            <a:avLst/>
          </a:prstGeom>
          <a:noFill/>
          <a:ln/>
        </p:spPr>
        <p:txBody>
          <a:bodyPr wrap="square" lIns="0" tIns="0" rIns="0" bIns="0" rtlCol="0" anchor="t"/>
          <a:lstStyle/>
          <a:p>
            <a:pPr algn="ctr" indent="0" marL="0">
              <a:buNone/>
            </a:pPr>
            <a:r>
              <a:rPr lang="en-US" sz="1500" dirty="0">
                <a:solidFill>
                  <a:schemeClr val="tx1"/>
                </a:solidFill>
              </a:rPr>
              <a:t>ролі користувачів</a:t>
            </a:r>
            <a:endParaRPr lang="en-US" sz="1500" dirty="0"/>
          </a:p>
        </p:txBody>
      </p:sp>
      <p:sp>
        <p:nvSpPr>
          <p:cNvPr id="18" name="summary icon circle"/>
          <p:cNvSpPr/>
          <p:nvPr/>
        </p:nvSpPr>
        <p:spPr>
          <a:xfrm>
            <a:off x="548640" y="4754880"/>
            <a:ext cx="731520" cy="731520"/>
          </a:xfrm>
          <a:prstGeom prst="ellipse">
            <a:avLst/>
          </a:prstGeom>
          <a:solidFill>
            <a:schemeClr val="accent3"/>
          </a:solidFill>
          <a:ln/>
        </p:spPr>
      </p:sp>
      <p:pic>
        <p:nvPicPr>
          <p:cNvPr id="19" name="summary icon glyph" descr="preencoded.png">    </p:cNvPr>
          <p:cNvPicPr>
            <a:picLocks noChangeAspect="1"/>
          </p:cNvPicPr>
          <p:nvPr/>
        </p:nvPicPr>
        <p:blipFill>
          <a:blip r:embed="rId1"/>
          <a:stretch>
            <a:fillRect/>
          </a:stretch>
        </p:blipFill>
        <p:spPr>
          <a:xfrm>
            <a:off x="731520" y="4937760"/>
            <a:ext cx="365760" cy="365760"/>
          </a:xfrm>
          <a:prstGeom prst="rect">
            <a:avLst/>
          </a:prstGeom>
        </p:spPr>
      </p:pic>
      <p:sp>
        <p:nvSpPr>
          <p:cNvPr id="20" name="Text 17"/>
          <p:cNvSpPr txBox="1"/>
          <p:nvPr/>
        </p:nvSpPr>
        <p:spPr>
          <a:xfrm>
            <a:off x="1463040" y="4709160"/>
            <a:ext cx="10149840" cy="822960"/>
          </a:xfrm>
          <a:prstGeom prst="rect">
            <a:avLst/>
          </a:prstGeom>
          <a:noFill/>
          <a:ln/>
        </p:spPr>
        <p:txBody>
          <a:bodyPr wrap="square" lIns="0" tIns="0" rIns="0" bIns="0" rtlCol="0" anchor="ctr"/>
          <a:lstStyle/>
          <a:p>
            <a:pPr indent="0" marL="0">
              <a:buNone/>
            </a:pPr>
            <a:r>
              <a:rPr lang="en-US" sz="1800" dirty="0">
                <a:solidFill>
                  <a:schemeClr val="tx1"/>
                </a:solidFill>
              </a:rPr>
              <a:t>Реалізовано повний цикл: від пошуку закладу до бронювання та відгуку, а також кабінет власника</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Висновки та перспективи розвитку</a:t>
            </a:r>
            <a:endParaRPr lang="en-US" sz="3400" dirty="0"/>
          </a:p>
        </p:txBody>
      </p:sp>
      <p:sp>
        <p:nvSpPr>
          <p:cNvPr id="3" name="done card"/>
          <p:cNvSpPr/>
          <p:nvPr/>
        </p:nvSpPr>
        <p:spPr>
          <a:xfrm>
            <a:off x="548640" y="1371600"/>
            <a:ext cx="5394960" cy="4709160"/>
          </a:xfrm>
          <a:prstGeom prst="roundRect">
            <a:avLst>
              <a:gd name="adj" fmla="val 2330"/>
            </a:avLst>
          </a:prstGeom>
          <a:solidFill>
            <a:schemeClr val="bg2"/>
          </a:solidFill>
          <a:ln/>
        </p:spPr>
      </p:sp>
      <p:sp>
        <p:nvSpPr>
          <p:cNvPr id="4" name="done icon circle"/>
          <p:cNvSpPr/>
          <p:nvPr/>
        </p:nvSpPr>
        <p:spPr>
          <a:xfrm>
            <a:off x="868680" y="1645920"/>
            <a:ext cx="548640" cy="548640"/>
          </a:xfrm>
          <a:prstGeom prst="ellipse">
            <a:avLst/>
          </a:prstGeom>
          <a:solidFill>
            <a:schemeClr val="accent3"/>
          </a:solidFill>
          <a:ln/>
        </p:spPr>
      </p:sp>
      <p:pic>
        <p:nvPicPr>
          <p:cNvPr id="5" name="done icon glyph" descr="preencoded.png">    </p:cNvPr>
          <p:cNvPicPr>
            <a:picLocks noChangeAspect="1"/>
          </p:cNvPicPr>
          <p:nvPr/>
        </p:nvPicPr>
        <p:blipFill>
          <a:blip r:embed="rId1"/>
          <a:stretch>
            <a:fillRect/>
          </a:stretch>
        </p:blipFill>
        <p:spPr>
          <a:xfrm>
            <a:off x="1005840" y="1783080"/>
            <a:ext cx="274320" cy="274320"/>
          </a:xfrm>
          <a:prstGeom prst="rect">
            <a:avLst/>
          </a:prstGeom>
        </p:spPr>
      </p:pic>
      <p:sp>
        <p:nvSpPr>
          <p:cNvPr id="6" name="Text 3"/>
          <p:cNvSpPr txBox="1"/>
          <p:nvPr/>
        </p:nvSpPr>
        <p:spPr>
          <a:xfrm>
            <a:off x="1600200" y="1645920"/>
            <a:ext cx="402336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Виконано</a:t>
            </a:r>
            <a:endParaRPr lang="en-US" sz="2000" dirty="0"/>
          </a:p>
        </p:txBody>
      </p:sp>
      <p:sp>
        <p:nvSpPr>
          <p:cNvPr id="7" name="Text 4"/>
          <p:cNvSpPr txBox="1"/>
          <p:nvPr/>
        </p:nvSpPr>
        <p:spPr>
          <a:xfrm>
            <a:off x="868680" y="2514600"/>
            <a:ext cx="4754880" cy="3383280"/>
          </a:xfrm>
          <a:prstGeom prst="rect">
            <a:avLst/>
          </a:prstGeom>
          <a:noFill/>
          <a:ln/>
        </p:spPr>
        <p:txBody>
          <a:bodyPr wrap="square" lIns="0" tIns="0" rIns="0" bIns="0" rtlCol="0" anchor="t"/>
          <a:lstStyle/>
          <a:p>
            <a:pPr marL="190500" indent="-190500">
              <a:spcAft>
                <a:spcPts val="1400"/>
              </a:spcAft>
              <a:buSzPct val="100000"/>
              <a:buChar char="•"/>
            </a:pPr>
            <a:r>
              <a:rPr lang="en-US" sz="1800" dirty="0">
                <a:solidFill>
                  <a:schemeClr val="tx1"/>
                </a:solidFill>
              </a:rPr>
              <a:t>Проаналізовано предметну область та аналоги</a:t>
            </a:r>
            <a:endParaRPr lang="en-US" sz="1800" dirty="0"/>
          </a:p>
          <a:p>
            <a:pPr marL="190500" indent="-190500">
              <a:spcAft>
                <a:spcPts val="1400"/>
              </a:spcAft>
              <a:buSzPct val="100000"/>
              <a:buChar char="•"/>
            </a:pPr>
            <a:r>
              <a:rPr lang="en-US" sz="1800" dirty="0">
                <a:solidFill>
                  <a:schemeClr val="tx1"/>
                </a:solidFill>
              </a:rPr>
              <a:t>Визначено ролі та функціональні вимоги</a:t>
            </a:r>
            <a:endParaRPr lang="en-US" sz="1800" dirty="0"/>
          </a:p>
          <a:p>
            <a:pPr marL="190500" indent="-190500">
              <a:spcAft>
                <a:spcPts val="1400"/>
              </a:spcAft>
              <a:buSzPct val="100000"/>
              <a:buChar char="•"/>
            </a:pPr>
            <a:r>
              <a:rPr lang="en-US" sz="1800" dirty="0">
                <a:solidFill>
                  <a:schemeClr val="tx1"/>
                </a:solidFill>
              </a:rPr>
              <a:t>Спроєктовано архітектуру і модель даних</a:t>
            </a:r>
            <a:endParaRPr lang="en-US" sz="1800" dirty="0"/>
          </a:p>
          <a:p>
            <a:pPr marL="190500" indent="-190500">
              <a:spcAft>
                <a:spcPts val="1400"/>
              </a:spcAft>
              <a:buSzPct val="100000"/>
              <a:buChar char="•"/>
            </a:pPr>
            <a:r>
              <a:rPr lang="en-US" sz="1800" dirty="0">
                <a:solidFill>
                  <a:schemeClr val="tx1"/>
                </a:solidFill>
              </a:rPr>
              <a:t>Реалізовано REST API та SPA-клієнт</a:t>
            </a:r>
            <a:endParaRPr lang="en-US" sz="1800" dirty="0"/>
          </a:p>
          <a:p>
            <a:pPr marL="190500" indent="-190500">
              <a:spcAft>
                <a:spcPts val="1400"/>
              </a:spcAft>
              <a:buSzPct val="100000"/>
              <a:buChar char="•"/>
            </a:pPr>
            <a:r>
              <a:rPr lang="en-US" sz="1800" dirty="0">
                <a:solidFill>
                  <a:schemeClr val="tx1"/>
                </a:solidFill>
              </a:rPr>
              <a:t>Проведено функціональне тестування</a:t>
            </a:r>
            <a:endParaRPr lang="en-US" sz="1800" dirty="0"/>
          </a:p>
        </p:txBody>
      </p:sp>
      <p:sp>
        <p:nvSpPr>
          <p:cNvPr id="8" name="next card"/>
          <p:cNvSpPr/>
          <p:nvPr/>
        </p:nvSpPr>
        <p:spPr>
          <a:xfrm>
            <a:off x="6245352" y="1371600"/>
            <a:ext cx="5394960" cy="4709160"/>
          </a:xfrm>
          <a:prstGeom prst="roundRect">
            <a:avLst>
              <a:gd name="adj" fmla="val 2330"/>
            </a:avLst>
          </a:prstGeom>
          <a:solidFill>
            <a:schemeClr val="tx1"/>
          </a:solidFill>
          <a:ln/>
        </p:spPr>
      </p:sp>
      <p:sp>
        <p:nvSpPr>
          <p:cNvPr id="9" name="next icon circle"/>
          <p:cNvSpPr/>
          <p:nvPr/>
        </p:nvSpPr>
        <p:spPr>
          <a:xfrm>
            <a:off x="6565392" y="1645920"/>
            <a:ext cx="548640" cy="548640"/>
          </a:xfrm>
          <a:prstGeom prst="ellipse">
            <a:avLst/>
          </a:prstGeom>
          <a:solidFill>
            <a:schemeClr val="accent1"/>
          </a:solidFill>
          <a:ln/>
        </p:spPr>
      </p:sp>
      <p:pic>
        <p:nvPicPr>
          <p:cNvPr id="10" name="next icon glyph" descr="preencoded.png">    </p:cNvPr>
          <p:cNvPicPr>
            <a:picLocks noChangeAspect="1"/>
          </p:cNvPicPr>
          <p:nvPr/>
        </p:nvPicPr>
        <p:blipFill>
          <a:blip r:embed="rId2"/>
          <a:stretch>
            <a:fillRect/>
          </a:stretch>
        </p:blipFill>
        <p:spPr>
          <a:xfrm>
            <a:off x="6702552" y="1783080"/>
            <a:ext cx="274320" cy="274320"/>
          </a:xfrm>
          <a:prstGeom prst="rect">
            <a:avLst/>
          </a:prstGeom>
        </p:spPr>
      </p:pic>
      <p:sp>
        <p:nvSpPr>
          <p:cNvPr id="11" name="Text 7"/>
          <p:cNvSpPr txBox="1"/>
          <p:nvPr/>
        </p:nvSpPr>
        <p:spPr>
          <a:xfrm>
            <a:off x="7296912" y="1645920"/>
            <a:ext cx="4023360" cy="5486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Перспективи</a:t>
            </a:r>
            <a:endParaRPr lang="en-US" sz="2000" dirty="0"/>
          </a:p>
        </p:txBody>
      </p:sp>
      <p:sp>
        <p:nvSpPr>
          <p:cNvPr id="12" name="Text 8"/>
          <p:cNvSpPr txBox="1"/>
          <p:nvPr/>
        </p:nvSpPr>
        <p:spPr>
          <a:xfrm>
            <a:off x="6565392" y="2514600"/>
            <a:ext cx="4754880" cy="3383280"/>
          </a:xfrm>
          <a:prstGeom prst="rect">
            <a:avLst/>
          </a:prstGeom>
          <a:noFill/>
          <a:ln/>
        </p:spPr>
        <p:txBody>
          <a:bodyPr wrap="square" lIns="0" tIns="0" rIns="0" bIns="0" rtlCol="0" anchor="t"/>
          <a:lstStyle/>
          <a:p>
            <a:pPr marL="190500" indent="-190500">
              <a:spcAft>
                <a:spcPts val="1400"/>
              </a:spcAft>
              <a:buSzPct val="100000"/>
              <a:buChar char="•"/>
            </a:pPr>
            <a:r>
              <a:rPr lang="en-US" sz="1800" dirty="0">
                <a:solidFill>
                  <a:schemeClr val="bg1"/>
                </a:solidFill>
              </a:rPr>
              <a:t>Модуль заходів: афіша та запис на події</a:t>
            </a:r>
            <a:endParaRPr lang="en-US" sz="1800" dirty="0"/>
          </a:p>
          <a:p>
            <a:pPr marL="190500" indent="-190500">
              <a:spcAft>
                <a:spcPts val="1400"/>
              </a:spcAft>
              <a:buSzPct val="100000"/>
              <a:buChar char="•"/>
            </a:pPr>
            <a:r>
              <a:rPr lang="en-US" sz="1800" dirty="0">
                <a:solidFill>
                  <a:schemeClr val="bg1"/>
                </a:solidFill>
              </a:rPr>
              <a:t>Підтвердження бронювань власником</a:t>
            </a:r>
            <a:endParaRPr lang="en-US" sz="1800" dirty="0"/>
          </a:p>
          <a:p>
            <a:pPr marL="190500" indent="-190500">
              <a:spcAft>
                <a:spcPts val="1400"/>
              </a:spcAft>
              <a:buSzPct val="100000"/>
              <a:buChar char="•"/>
            </a:pPr>
            <a:r>
              <a:rPr lang="en-US" sz="1800" dirty="0">
                <a:solidFill>
                  <a:schemeClr val="bg1"/>
                </a:solidFill>
              </a:rPr>
              <a:t>Завантаження фото закладів</a:t>
            </a:r>
            <a:endParaRPr lang="en-US" sz="1800" dirty="0"/>
          </a:p>
          <a:p>
            <a:pPr marL="190500" indent="-190500">
              <a:spcAft>
                <a:spcPts val="1400"/>
              </a:spcAft>
              <a:buSzPct val="100000"/>
              <a:buChar char="•"/>
            </a:pPr>
            <a:r>
              <a:rPr lang="en-US" sz="1800" dirty="0">
                <a:solidFill>
                  <a:schemeClr val="bg1"/>
                </a:solidFill>
              </a:rPr>
              <a:t>Карта ресторанів</a:t>
            </a:r>
            <a:endParaRPr lang="en-US" sz="1800" dirty="0"/>
          </a:p>
          <a:p>
            <a:pPr marL="190500" indent="-190500">
              <a:spcAft>
                <a:spcPts val="1400"/>
              </a:spcAft>
              <a:buSzPct val="100000"/>
              <a:buChar char="•"/>
            </a:pPr>
            <a:r>
              <a:rPr lang="en-US" sz="1800" dirty="0">
                <a:solidFill>
                  <a:schemeClr val="bg1"/>
                </a:solidFill>
              </a:rPr>
              <a:t>Refresh-токени та хмарне розгортання</a:t>
            </a:r>
            <a:endParaRPr lang="en-US" sz="1800" dirty="0"/>
          </a:p>
          <a:p>
            <a:pPr marL="190500" indent="-190500">
              <a:spcAft>
                <a:spcPts val="1400"/>
              </a:spcAft>
              <a:buSzPct val="100000"/>
              <a:buChar char="•"/>
            </a:pPr>
            <a:r>
              <a:rPr lang="en-US" sz="1800" dirty="0">
                <a:solidFill>
                  <a:schemeClr val="bg1"/>
                </a:solidFill>
              </a:rPr>
              <a:t>Мобільний застосунок</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logo circle"/>
          <p:cNvSpPr/>
          <p:nvPr/>
        </p:nvSpPr>
        <p:spPr>
          <a:xfrm>
            <a:off x="731520" y="731520"/>
            <a:ext cx="822960" cy="822960"/>
          </a:xfrm>
          <a:prstGeom prst="ellipse">
            <a:avLst/>
          </a:prstGeom>
          <a:solidFill>
            <a:schemeClr val="accent1"/>
          </a:solidFill>
          <a:ln/>
        </p:spPr>
      </p:sp>
      <p:pic>
        <p:nvPicPr>
          <p:cNvPr id="3" name="logo glyph" descr="preencoded.png">    </p:cNvPr>
          <p:cNvPicPr>
            <a:picLocks noChangeAspect="1"/>
          </p:cNvPicPr>
          <p:nvPr/>
        </p:nvPicPr>
        <p:blipFill>
          <a:blip r:embed="rId1"/>
          <a:stretch>
            <a:fillRect/>
          </a:stretch>
        </p:blipFill>
        <p:spPr>
          <a:xfrm>
            <a:off x="937260" y="937260"/>
            <a:ext cx="411480" cy="411480"/>
          </a:xfrm>
          <a:prstGeom prst="rect">
            <a:avLst/>
          </a:prstGeom>
        </p:spPr>
      </p:pic>
      <p:sp>
        <p:nvSpPr>
          <p:cNvPr id="4" name="Text 1"/>
          <p:cNvSpPr txBox="1"/>
          <p:nvPr/>
        </p:nvSpPr>
        <p:spPr>
          <a:xfrm>
            <a:off x="1737360" y="868680"/>
            <a:ext cx="5486400" cy="54864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TasteMap</a:t>
            </a:r>
            <a:endParaRPr lang="en-US" sz="2800" dirty="0"/>
          </a:p>
        </p:txBody>
      </p:sp>
      <p:sp>
        <p:nvSpPr>
          <p:cNvPr id="5" name="Text 0"/>
          <p:cNvSpPr/>
          <p:nvPr>
            <p:ph idx="100" type="title" hasCustomPrompt="1"/>
          </p:nvPr>
        </p:nvSpPr>
        <p:spPr>
          <a:xfrm>
            <a:off x="731520" y="18288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Дякую за увагу!</a:t>
            </a:r>
            <a:endParaRPr lang="en-US" sz="4400" dirty="0"/>
          </a:p>
        </p:txBody>
      </p:sp>
      <p:sp>
        <p:nvSpPr>
          <p:cNvPr id="6"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r>
              <a:rPr lang="en-US" sz="2000" dirty="0">
                <a:solidFill>
                  <a:schemeClr val="accent6"/>
                </a:solidFill>
              </a:rPr>
              <a:t>Готовий(а) відповісти на ваші запитання</a:t>
            </a:r>
            <a:endParaRPr lang="en-US" sz="2000" dirty="0"/>
          </a:p>
        </p:txBody>
      </p:sp>
    </p:spTree>
  </p:cSld>
  <p:clrMapOvr>
    <a:masterClrMapping/>
  </p:clrMapOvr>
</p:sld>
</file>

<file path=ppt/theme/theme1.xml><?xml version="1.0" encoding="utf-8"?>
<a:theme xmlns:a="http://schemas.openxmlformats.org/drawingml/2006/main" name="TasteMap">
  <a:themeElements>
    <a:clrScheme name="TasteMap">
      <a:dk1>
        <a:srgbClr val="2B2024"/>
      </a:dk1>
      <a:lt1>
        <a:srgbClr val="FFFFFF"/>
      </a:lt1>
      <a:dk2>
        <a:srgbClr val="5E5056"/>
      </a:dk2>
      <a:lt2>
        <a:srgbClr val="F7ECE8"/>
      </a:lt2>
      <a:accent1>
        <a:srgbClr val="D9512C"/>
      </a:accent1>
      <a:accent2>
        <a:srgbClr val="F2A541"/>
      </a:accent2>
      <a:accent3>
        <a:srgbClr val="3E8E7E"/>
      </a:accent3>
      <a:accent4>
        <a:srgbClr val="2B2024"/>
      </a:accent4>
      <a:accent5>
        <a:srgbClr val="8C6A73"/>
      </a:accent5>
      <a:accent6>
        <a:srgbClr val="E9D3CC"/>
      </a:accent6>
      <a:hlink>
        <a:srgbClr val="D9512C"/>
      </a:hlink>
      <a:folHlink>
        <a:srgbClr val="8C6A73"/>
      </a:folHlink>
    </a:clrScheme>
    <a:fontScheme name="TasteMa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TasteMap — захист дипломної роботи</dc:title>
  <dc:subject>PptxGenJS Presentation</dc:subject>
  <dc:creator>PptxGenJS</dc:creator>
  <cp:lastModifiedBy>PptxGenJS</cp:lastModifiedBy>
  <cp:revision>1</cp:revision>
  <dcterms:created xsi:type="dcterms:W3CDTF">2026-10-14T10:49:56Z</dcterms:created>
  <dcterms:modified xsi:type="dcterms:W3CDTF">2026-10-14T10:49:56Z</dcterms:modified>
</cp:coreProperties>
</file>